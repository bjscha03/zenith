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65" r:id="rId6"/>
    <p:sldId id="267" r:id="rId7"/>
    <p:sldId id="269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73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Wagner" userId="059f5fb0-fc0c-4406-9b7e-80f71409a67e" providerId="ADAL" clId="{BF4259EF-5817-4AC2-B8AC-8E372CC3EB15}"/>
    <pc:docChg chg="modSld">
      <pc:chgData name="Thomas Wagner" userId="059f5fb0-fc0c-4406-9b7e-80f71409a67e" providerId="ADAL" clId="{BF4259EF-5817-4AC2-B8AC-8E372CC3EB15}" dt="2026-04-03T17:41:31.998" v="19" actId="20577"/>
      <pc:docMkLst>
        <pc:docMk/>
      </pc:docMkLst>
      <pc:sldChg chg="modSp mod">
        <pc:chgData name="Thomas Wagner" userId="059f5fb0-fc0c-4406-9b7e-80f71409a67e" providerId="ADAL" clId="{BF4259EF-5817-4AC2-B8AC-8E372CC3EB15}" dt="2026-04-03T17:41:31.998" v="19" actId="20577"/>
        <pc:sldMkLst>
          <pc:docMk/>
          <pc:sldMk cId="0" sldId="256"/>
        </pc:sldMkLst>
        <pc:spChg chg="mod">
          <ac:chgData name="Thomas Wagner" userId="059f5fb0-fc0c-4406-9b7e-80f71409a67e" providerId="ADAL" clId="{BF4259EF-5817-4AC2-B8AC-8E372CC3EB15}" dt="2026-04-03T17:41:31.998" v="19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407F4F-2284-446F-A6C5-059D1D62A19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D8F38F2-BC94-4FC2-A73E-26467ABFC862}">
      <dgm:prSet/>
      <dgm:spPr/>
      <dgm:t>
        <a:bodyPr/>
        <a:lstStyle/>
        <a:p>
          <a:r>
            <a:rPr lang="en-US"/>
            <a:t>Greater control over program design </a:t>
          </a:r>
        </a:p>
      </dgm:t>
    </dgm:pt>
    <dgm:pt modelId="{CF08B31B-19CD-416A-BE18-4EE871E35532}" type="parTrans" cxnId="{1F659289-D6A9-4B5C-8249-B8F391D61B6A}">
      <dgm:prSet/>
      <dgm:spPr/>
      <dgm:t>
        <a:bodyPr/>
        <a:lstStyle/>
        <a:p>
          <a:endParaRPr lang="en-US"/>
        </a:p>
      </dgm:t>
    </dgm:pt>
    <dgm:pt modelId="{A3776202-A609-46D6-BCD1-72686FB31D87}" type="sibTrans" cxnId="{1F659289-D6A9-4B5C-8249-B8F391D61B6A}">
      <dgm:prSet/>
      <dgm:spPr/>
      <dgm:t>
        <a:bodyPr/>
        <a:lstStyle/>
        <a:p>
          <a:endParaRPr lang="en-US"/>
        </a:p>
      </dgm:t>
    </dgm:pt>
    <dgm:pt modelId="{508C3D58-8014-443F-A478-127B707940B6}">
      <dgm:prSet/>
      <dgm:spPr/>
      <dgm:t>
        <a:bodyPr/>
        <a:lstStyle/>
        <a:p>
          <a:r>
            <a:rPr lang="en-US"/>
            <a:t>Potential for underwriting profit return to captive participants</a:t>
          </a:r>
        </a:p>
      </dgm:t>
    </dgm:pt>
    <dgm:pt modelId="{D8690454-EAAA-44D0-9E75-9B69922B5DEE}" type="parTrans" cxnId="{88E3F51F-D8E3-43E8-A73B-71A361A77D2E}">
      <dgm:prSet/>
      <dgm:spPr/>
      <dgm:t>
        <a:bodyPr/>
        <a:lstStyle/>
        <a:p>
          <a:endParaRPr lang="en-US"/>
        </a:p>
      </dgm:t>
    </dgm:pt>
    <dgm:pt modelId="{888A15DE-B37A-4DA0-AF28-1418B38D9C7C}" type="sibTrans" cxnId="{88E3F51F-D8E3-43E8-A73B-71A361A77D2E}">
      <dgm:prSet/>
      <dgm:spPr/>
      <dgm:t>
        <a:bodyPr/>
        <a:lstStyle/>
        <a:p>
          <a:endParaRPr lang="en-US"/>
        </a:p>
      </dgm:t>
    </dgm:pt>
    <dgm:pt modelId="{8207EDC1-1ECD-4FE4-A8F3-1473657F638B}">
      <dgm:prSet/>
      <dgm:spPr/>
      <dgm:t>
        <a:bodyPr/>
        <a:lstStyle/>
        <a:p>
          <a:r>
            <a:rPr lang="en-US"/>
            <a:t>Improved transparency and alignment of incentives among stakeholders</a:t>
          </a:r>
        </a:p>
      </dgm:t>
    </dgm:pt>
    <dgm:pt modelId="{31728D7B-1929-45C9-A6A3-02D46A2EB12F}" type="parTrans" cxnId="{FC9AB2BD-D5B4-46CA-A305-F9AA36C73316}">
      <dgm:prSet/>
      <dgm:spPr/>
      <dgm:t>
        <a:bodyPr/>
        <a:lstStyle/>
        <a:p>
          <a:endParaRPr lang="en-US"/>
        </a:p>
      </dgm:t>
    </dgm:pt>
    <dgm:pt modelId="{786FB9E5-40DD-4E6D-9AF9-E0745558DF29}" type="sibTrans" cxnId="{FC9AB2BD-D5B4-46CA-A305-F9AA36C73316}">
      <dgm:prSet/>
      <dgm:spPr/>
      <dgm:t>
        <a:bodyPr/>
        <a:lstStyle/>
        <a:p>
          <a:endParaRPr lang="en-US"/>
        </a:p>
      </dgm:t>
    </dgm:pt>
    <dgm:pt modelId="{909C3EC9-FD32-4F2B-A8FB-96B8A8F7D362}">
      <dgm:prSet/>
      <dgm:spPr/>
      <dgm:t>
        <a:bodyPr/>
        <a:lstStyle/>
        <a:p>
          <a:r>
            <a:rPr lang="en-US"/>
            <a:t>Access to claims data and utilization insights for better decision-making</a:t>
          </a:r>
        </a:p>
      </dgm:t>
    </dgm:pt>
    <dgm:pt modelId="{05B01CBD-853D-4346-8841-B0AFC10EA7EF}" type="parTrans" cxnId="{EBF1906E-7A07-4C6D-BD2A-37F8E71AFBC6}">
      <dgm:prSet/>
      <dgm:spPr/>
      <dgm:t>
        <a:bodyPr/>
        <a:lstStyle/>
        <a:p>
          <a:endParaRPr lang="en-US"/>
        </a:p>
      </dgm:t>
    </dgm:pt>
    <dgm:pt modelId="{403E05E4-F543-4156-9577-C61844019AE1}" type="sibTrans" cxnId="{EBF1906E-7A07-4C6D-BD2A-37F8E71AFBC6}">
      <dgm:prSet/>
      <dgm:spPr/>
      <dgm:t>
        <a:bodyPr/>
        <a:lstStyle/>
        <a:p>
          <a:endParaRPr lang="en-US"/>
        </a:p>
      </dgm:t>
    </dgm:pt>
    <dgm:pt modelId="{A87C115C-DA45-43C1-8EF2-1081FD1F48FF}">
      <dgm:prSet/>
      <dgm:spPr/>
      <dgm:t>
        <a:bodyPr/>
        <a:lstStyle/>
        <a:p>
          <a:r>
            <a:rPr lang="en-US"/>
            <a:t>Spreads risk across multiple employers for added stability</a:t>
          </a:r>
        </a:p>
      </dgm:t>
    </dgm:pt>
    <dgm:pt modelId="{BF930576-72F5-4D84-9CCA-03DA115F5E82}" type="parTrans" cxnId="{72DA2B50-B9BA-4DA3-85AF-436484F22564}">
      <dgm:prSet/>
      <dgm:spPr/>
      <dgm:t>
        <a:bodyPr/>
        <a:lstStyle/>
        <a:p>
          <a:endParaRPr lang="en-US"/>
        </a:p>
      </dgm:t>
    </dgm:pt>
    <dgm:pt modelId="{51A3F3EF-6D41-49F4-A596-4FD974222CE6}" type="sibTrans" cxnId="{72DA2B50-B9BA-4DA3-85AF-436484F22564}">
      <dgm:prSet/>
      <dgm:spPr/>
      <dgm:t>
        <a:bodyPr/>
        <a:lstStyle/>
        <a:p>
          <a:endParaRPr lang="en-US"/>
        </a:p>
      </dgm:t>
    </dgm:pt>
    <dgm:pt modelId="{D07E38E2-7C0E-459C-BB07-0A209E65D80F}">
      <dgm:prSet/>
      <dgm:spPr/>
      <dgm:t>
        <a:bodyPr/>
        <a:lstStyle/>
        <a:p>
          <a:r>
            <a:rPr lang="en-US"/>
            <a:t>Participation in a shared reinsurance pool with like-minded employers</a:t>
          </a:r>
        </a:p>
      </dgm:t>
    </dgm:pt>
    <dgm:pt modelId="{4AEAEDD6-4902-40EA-9317-A9A4CF098875}" type="parTrans" cxnId="{6DD3FC84-07ED-4CDA-B29C-C5BB82526E55}">
      <dgm:prSet/>
      <dgm:spPr/>
      <dgm:t>
        <a:bodyPr/>
        <a:lstStyle/>
        <a:p>
          <a:endParaRPr lang="en-US"/>
        </a:p>
      </dgm:t>
    </dgm:pt>
    <dgm:pt modelId="{703D78FD-A08F-4125-96D3-27DE9BCE811C}" type="sibTrans" cxnId="{6DD3FC84-07ED-4CDA-B29C-C5BB82526E55}">
      <dgm:prSet/>
      <dgm:spPr/>
      <dgm:t>
        <a:bodyPr/>
        <a:lstStyle/>
        <a:p>
          <a:endParaRPr lang="en-US"/>
        </a:p>
      </dgm:t>
    </dgm:pt>
    <dgm:pt modelId="{71392428-95EB-42B9-88D0-7CE32E60EC0D}">
      <dgm:prSet/>
      <dgm:spPr/>
      <dgm:t>
        <a:bodyPr/>
        <a:lstStyle/>
        <a:p>
          <a:r>
            <a:rPr lang="en-US"/>
            <a:t>Opportunity to capture investment income on reserves</a:t>
          </a:r>
        </a:p>
      </dgm:t>
    </dgm:pt>
    <dgm:pt modelId="{48D3883D-9284-42B6-A6C6-53C067C50357}" type="parTrans" cxnId="{061A220E-8548-4FF3-8A0E-8B7E84AA4D9C}">
      <dgm:prSet/>
      <dgm:spPr/>
      <dgm:t>
        <a:bodyPr/>
        <a:lstStyle/>
        <a:p>
          <a:endParaRPr lang="en-US"/>
        </a:p>
      </dgm:t>
    </dgm:pt>
    <dgm:pt modelId="{29B53DDF-4FAA-438C-954B-FA785761F70F}" type="sibTrans" cxnId="{061A220E-8548-4FF3-8A0E-8B7E84AA4D9C}">
      <dgm:prSet/>
      <dgm:spPr/>
      <dgm:t>
        <a:bodyPr/>
        <a:lstStyle/>
        <a:p>
          <a:endParaRPr lang="en-US"/>
        </a:p>
      </dgm:t>
    </dgm:pt>
    <dgm:pt modelId="{7B5812F5-0CFD-4DE4-B7C9-36CCEDD7799D}">
      <dgm:prSet/>
      <dgm:spPr/>
      <dgm:t>
        <a:bodyPr/>
        <a:lstStyle/>
        <a:p>
          <a:r>
            <a:rPr lang="en-US"/>
            <a:t>Ability to implement and reward effective cost containment strategies</a:t>
          </a:r>
        </a:p>
      </dgm:t>
    </dgm:pt>
    <dgm:pt modelId="{2B043807-9E0B-4BD2-AD3A-652E1FB195B4}" type="parTrans" cxnId="{4E5758D5-E4FA-42C7-8CE4-043C564BBF41}">
      <dgm:prSet/>
      <dgm:spPr/>
      <dgm:t>
        <a:bodyPr/>
        <a:lstStyle/>
        <a:p>
          <a:endParaRPr lang="en-US"/>
        </a:p>
      </dgm:t>
    </dgm:pt>
    <dgm:pt modelId="{03447679-5DB9-4861-8C7F-504A3FEF797C}" type="sibTrans" cxnId="{4E5758D5-E4FA-42C7-8CE4-043C564BBF41}">
      <dgm:prSet/>
      <dgm:spPr/>
      <dgm:t>
        <a:bodyPr/>
        <a:lstStyle/>
        <a:p>
          <a:endParaRPr lang="en-US"/>
        </a:p>
      </dgm:t>
    </dgm:pt>
    <dgm:pt modelId="{CF6D606F-BDCE-42F1-B209-1DE5F7C122F8}" type="pres">
      <dgm:prSet presAssocID="{73407F4F-2284-446F-A6C5-059D1D62A19F}" presName="linear" presStyleCnt="0">
        <dgm:presLayoutVars>
          <dgm:animLvl val="lvl"/>
          <dgm:resizeHandles val="exact"/>
        </dgm:presLayoutVars>
      </dgm:prSet>
      <dgm:spPr/>
    </dgm:pt>
    <dgm:pt modelId="{26473C63-F5F7-4B56-8D72-22712BB6E400}" type="pres">
      <dgm:prSet presAssocID="{FD8F38F2-BC94-4FC2-A73E-26467ABFC862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74D86474-79F8-49E1-92D8-08A5E2C9147B}" type="pres">
      <dgm:prSet presAssocID="{A3776202-A609-46D6-BCD1-72686FB31D87}" presName="spacer" presStyleCnt="0"/>
      <dgm:spPr/>
    </dgm:pt>
    <dgm:pt modelId="{39893E62-5F9D-445B-B7D9-58AC91BA3CC0}" type="pres">
      <dgm:prSet presAssocID="{508C3D58-8014-443F-A478-127B707940B6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C382C69C-FBDE-4177-9C97-C312581AFCCE}" type="pres">
      <dgm:prSet presAssocID="{888A15DE-B37A-4DA0-AF28-1418B38D9C7C}" presName="spacer" presStyleCnt="0"/>
      <dgm:spPr/>
    </dgm:pt>
    <dgm:pt modelId="{38FB5FC5-E601-408D-9B50-076E7C60C78A}" type="pres">
      <dgm:prSet presAssocID="{8207EDC1-1ECD-4FE4-A8F3-1473657F638B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BFC8135E-F0FE-40C5-A188-3BB0032FA651}" type="pres">
      <dgm:prSet presAssocID="{786FB9E5-40DD-4E6D-9AF9-E0745558DF29}" presName="spacer" presStyleCnt="0"/>
      <dgm:spPr/>
    </dgm:pt>
    <dgm:pt modelId="{5AAAC28E-3281-4AEF-8F15-3066150B9C3F}" type="pres">
      <dgm:prSet presAssocID="{909C3EC9-FD32-4F2B-A8FB-96B8A8F7D362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DCB5C1FC-CC16-4DA0-B6CE-630D5FA04E17}" type="pres">
      <dgm:prSet presAssocID="{403E05E4-F543-4156-9577-C61844019AE1}" presName="spacer" presStyleCnt="0"/>
      <dgm:spPr/>
    </dgm:pt>
    <dgm:pt modelId="{980C3CCC-53C0-41DD-B0D6-32E16EE83DC1}" type="pres">
      <dgm:prSet presAssocID="{A87C115C-DA45-43C1-8EF2-1081FD1F48FF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C4EC0780-D7DC-4FFB-B3BC-0A89BAA6EA56}" type="pres">
      <dgm:prSet presAssocID="{51A3F3EF-6D41-49F4-A596-4FD974222CE6}" presName="spacer" presStyleCnt="0"/>
      <dgm:spPr/>
    </dgm:pt>
    <dgm:pt modelId="{64ED3BA0-49C9-4D58-A689-D3C07F9ABFD4}" type="pres">
      <dgm:prSet presAssocID="{D07E38E2-7C0E-459C-BB07-0A209E65D80F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2FEB2882-FAC2-4F14-8F48-18AA956CE52F}" type="pres">
      <dgm:prSet presAssocID="{703D78FD-A08F-4125-96D3-27DE9BCE811C}" presName="spacer" presStyleCnt="0"/>
      <dgm:spPr/>
    </dgm:pt>
    <dgm:pt modelId="{72A52DBE-4F43-4E5D-81D8-C90EF9CDEE79}" type="pres">
      <dgm:prSet presAssocID="{71392428-95EB-42B9-88D0-7CE32E60EC0D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654A2F50-2806-4D9D-B1E3-2DE051AAC3C7}" type="pres">
      <dgm:prSet presAssocID="{29B53DDF-4FAA-438C-954B-FA785761F70F}" presName="spacer" presStyleCnt="0"/>
      <dgm:spPr/>
    </dgm:pt>
    <dgm:pt modelId="{CF5EACD9-D008-4E7D-BEDD-30068F330985}" type="pres">
      <dgm:prSet presAssocID="{7B5812F5-0CFD-4DE4-B7C9-36CCEDD7799D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061A220E-8548-4FF3-8A0E-8B7E84AA4D9C}" srcId="{73407F4F-2284-446F-A6C5-059D1D62A19F}" destId="{71392428-95EB-42B9-88D0-7CE32E60EC0D}" srcOrd="6" destOrd="0" parTransId="{48D3883D-9284-42B6-A6C6-53C067C50357}" sibTransId="{29B53DDF-4FAA-438C-954B-FA785761F70F}"/>
    <dgm:cxn modelId="{0DDED61C-9C59-4A16-AAEE-BFF2411A9E79}" type="presOf" srcId="{508C3D58-8014-443F-A478-127B707940B6}" destId="{39893E62-5F9D-445B-B7D9-58AC91BA3CC0}" srcOrd="0" destOrd="0" presId="urn:microsoft.com/office/officeart/2005/8/layout/vList2"/>
    <dgm:cxn modelId="{88E3F51F-D8E3-43E8-A73B-71A361A77D2E}" srcId="{73407F4F-2284-446F-A6C5-059D1D62A19F}" destId="{508C3D58-8014-443F-A478-127B707940B6}" srcOrd="1" destOrd="0" parTransId="{D8690454-EAAA-44D0-9E75-9B69922B5DEE}" sibTransId="{888A15DE-B37A-4DA0-AF28-1418B38D9C7C}"/>
    <dgm:cxn modelId="{16A44938-70E3-494A-8316-4AC3A880F952}" type="presOf" srcId="{7B5812F5-0CFD-4DE4-B7C9-36CCEDD7799D}" destId="{CF5EACD9-D008-4E7D-BEDD-30068F330985}" srcOrd="0" destOrd="0" presId="urn:microsoft.com/office/officeart/2005/8/layout/vList2"/>
    <dgm:cxn modelId="{5EC62862-E1B0-4084-9C45-6A965DBD0851}" type="presOf" srcId="{71392428-95EB-42B9-88D0-7CE32E60EC0D}" destId="{72A52DBE-4F43-4E5D-81D8-C90EF9CDEE79}" srcOrd="0" destOrd="0" presId="urn:microsoft.com/office/officeart/2005/8/layout/vList2"/>
    <dgm:cxn modelId="{EBF1906E-7A07-4C6D-BD2A-37F8E71AFBC6}" srcId="{73407F4F-2284-446F-A6C5-059D1D62A19F}" destId="{909C3EC9-FD32-4F2B-A8FB-96B8A8F7D362}" srcOrd="3" destOrd="0" parTransId="{05B01CBD-853D-4346-8841-B0AFC10EA7EF}" sibTransId="{403E05E4-F543-4156-9577-C61844019AE1}"/>
    <dgm:cxn modelId="{72DA2B50-B9BA-4DA3-85AF-436484F22564}" srcId="{73407F4F-2284-446F-A6C5-059D1D62A19F}" destId="{A87C115C-DA45-43C1-8EF2-1081FD1F48FF}" srcOrd="4" destOrd="0" parTransId="{BF930576-72F5-4D84-9CCA-03DA115F5E82}" sibTransId="{51A3F3EF-6D41-49F4-A596-4FD974222CE6}"/>
    <dgm:cxn modelId="{6DD3FC84-07ED-4CDA-B29C-C5BB82526E55}" srcId="{73407F4F-2284-446F-A6C5-059D1D62A19F}" destId="{D07E38E2-7C0E-459C-BB07-0A209E65D80F}" srcOrd="5" destOrd="0" parTransId="{4AEAEDD6-4902-40EA-9317-A9A4CF098875}" sibTransId="{703D78FD-A08F-4125-96D3-27DE9BCE811C}"/>
    <dgm:cxn modelId="{1F659289-D6A9-4B5C-8249-B8F391D61B6A}" srcId="{73407F4F-2284-446F-A6C5-059D1D62A19F}" destId="{FD8F38F2-BC94-4FC2-A73E-26467ABFC862}" srcOrd="0" destOrd="0" parTransId="{CF08B31B-19CD-416A-BE18-4EE871E35532}" sibTransId="{A3776202-A609-46D6-BCD1-72686FB31D87}"/>
    <dgm:cxn modelId="{FC9AB2BD-D5B4-46CA-A305-F9AA36C73316}" srcId="{73407F4F-2284-446F-A6C5-059D1D62A19F}" destId="{8207EDC1-1ECD-4FE4-A8F3-1473657F638B}" srcOrd="2" destOrd="0" parTransId="{31728D7B-1929-45C9-A6A3-02D46A2EB12F}" sibTransId="{786FB9E5-40DD-4E6D-9AF9-E0745558DF29}"/>
    <dgm:cxn modelId="{6F81D9CC-5293-4EAF-9CB4-C38601FFC340}" type="presOf" srcId="{8207EDC1-1ECD-4FE4-A8F3-1473657F638B}" destId="{38FB5FC5-E601-408D-9B50-076E7C60C78A}" srcOrd="0" destOrd="0" presId="urn:microsoft.com/office/officeart/2005/8/layout/vList2"/>
    <dgm:cxn modelId="{4E5758D5-E4FA-42C7-8CE4-043C564BBF41}" srcId="{73407F4F-2284-446F-A6C5-059D1D62A19F}" destId="{7B5812F5-0CFD-4DE4-B7C9-36CCEDD7799D}" srcOrd="7" destOrd="0" parTransId="{2B043807-9E0B-4BD2-AD3A-652E1FB195B4}" sibTransId="{03447679-5DB9-4861-8C7F-504A3FEF797C}"/>
    <dgm:cxn modelId="{6C62A1DC-46FD-45CB-8873-4A25E7F50737}" type="presOf" srcId="{909C3EC9-FD32-4F2B-A8FB-96B8A8F7D362}" destId="{5AAAC28E-3281-4AEF-8F15-3066150B9C3F}" srcOrd="0" destOrd="0" presId="urn:microsoft.com/office/officeart/2005/8/layout/vList2"/>
    <dgm:cxn modelId="{2D970AE0-9566-4BB6-A874-09CEA6076FA3}" type="presOf" srcId="{D07E38E2-7C0E-459C-BB07-0A209E65D80F}" destId="{64ED3BA0-49C9-4D58-A689-D3C07F9ABFD4}" srcOrd="0" destOrd="0" presId="urn:microsoft.com/office/officeart/2005/8/layout/vList2"/>
    <dgm:cxn modelId="{22F0CFE2-FBCA-4648-B3EB-136224F0BB86}" type="presOf" srcId="{FD8F38F2-BC94-4FC2-A73E-26467ABFC862}" destId="{26473C63-F5F7-4B56-8D72-22712BB6E400}" srcOrd="0" destOrd="0" presId="urn:microsoft.com/office/officeart/2005/8/layout/vList2"/>
    <dgm:cxn modelId="{52254AF6-7842-4362-9919-D7ED6627450E}" type="presOf" srcId="{A87C115C-DA45-43C1-8EF2-1081FD1F48FF}" destId="{980C3CCC-53C0-41DD-B0D6-32E16EE83DC1}" srcOrd="0" destOrd="0" presId="urn:microsoft.com/office/officeart/2005/8/layout/vList2"/>
    <dgm:cxn modelId="{786B48F8-69FB-43D1-9944-607B235CCD3F}" type="presOf" srcId="{73407F4F-2284-446F-A6C5-059D1D62A19F}" destId="{CF6D606F-BDCE-42F1-B209-1DE5F7C122F8}" srcOrd="0" destOrd="0" presId="urn:microsoft.com/office/officeart/2005/8/layout/vList2"/>
    <dgm:cxn modelId="{803AC3C7-9D5A-495F-BADC-7AC1AACAA85B}" type="presParOf" srcId="{CF6D606F-BDCE-42F1-B209-1DE5F7C122F8}" destId="{26473C63-F5F7-4B56-8D72-22712BB6E400}" srcOrd="0" destOrd="0" presId="urn:microsoft.com/office/officeart/2005/8/layout/vList2"/>
    <dgm:cxn modelId="{6BCE3228-F35D-4CF9-B23D-0FB6C0C7E8F4}" type="presParOf" srcId="{CF6D606F-BDCE-42F1-B209-1DE5F7C122F8}" destId="{74D86474-79F8-49E1-92D8-08A5E2C9147B}" srcOrd="1" destOrd="0" presId="urn:microsoft.com/office/officeart/2005/8/layout/vList2"/>
    <dgm:cxn modelId="{7FACA273-7ADE-4154-8588-E864A7CADF6C}" type="presParOf" srcId="{CF6D606F-BDCE-42F1-B209-1DE5F7C122F8}" destId="{39893E62-5F9D-445B-B7D9-58AC91BA3CC0}" srcOrd="2" destOrd="0" presId="urn:microsoft.com/office/officeart/2005/8/layout/vList2"/>
    <dgm:cxn modelId="{FC7A0D41-5E0B-4CA6-B1CB-AD29CC95A371}" type="presParOf" srcId="{CF6D606F-BDCE-42F1-B209-1DE5F7C122F8}" destId="{C382C69C-FBDE-4177-9C97-C312581AFCCE}" srcOrd="3" destOrd="0" presId="urn:microsoft.com/office/officeart/2005/8/layout/vList2"/>
    <dgm:cxn modelId="{CCE5411F-9546-4C61-9996-1B810F4B4832}" type="presParOf" srcId="{CF6D606F-BDCE-42F1-B209-1DE5F7C122F8}" destId="{38FB5FC5-E601-408D-9B50-076E7C60C78A}" srcOrd="4" destOrd="0" presId="urn:microsoft.com/office/officeart/2005/8/layout/vList2"/>
    <dgm:cxn modelId="{D8BB88B5-E0BA-4DFC-8543-72CAA3FC0D2F}" type="presParOf" srcId="{CF6D606F-BDCE-42F1-B209-1DE5F7C122F8}" destId="{BFC8135E-F0FE-40C5-A188-3BB0032FA651}" srcOrd="5" destOrd="0" presId="urn:microsoft.com/office/officeart/2005/8/layout/vList2"/>
    <dgm:cxn modelId="{CBA8577E-8FC7-4AA9-96E8-C5414B2BE1FD}" type="presParOf" srcId="{CF6D606F-BDCE-42F1-B209-1DE5F7C122F8}" destId="{5AAAC28E-3281-4AEF-8F15-3066150B9C3F}" srcOrd="6" destOrd="0" presId="urn:microsoft.com/office/officeart/2005/8/layout/vList2"/>
    <dgm:cxn modelId="{ADF48409-D93D-4E98-9848-902959D568BC}" type="presParOf" srcId="{CF6D606F-BDCE-42F1-B209-1DE5F7C122F8}" destId="{DCB5C1FC-CC16-4DA0-B6CE-630D5FA04E17}" srcOrd="7" destOrd="0" presId="urn:microsoft.com/office/officeart/2005/8/layout/vList2"/>
    <dgm:cxn modelId="{B70A7227-AF03-4980-BACD-305A6177CFE2}" type="presParOf" srcId="{CF6D606F-BDCE-42F1-B209-1DE5F7C122F8}" destId="{980C3CCC-53C0-41DD-B0D6-32E16EE83DC1}" srcOrd="8" destOrd="0" presId="urn:microsoft.com/office/officeart/2005/8/layout/vList2"/>
    <dgm:cxn modelId="{D2BD9581-F1EA-418D-A0D6-F73A0DE9D3F9}" type="presParOf" srcId="{CF6D606F-BDCE-42F1-B209-1DE5F7C122F8}" destId="{C4EC0780-D7DC-4FFB-B3BC-0A89BAA6EA56}" srcOrd="9" destOrd="0" presId="urn:microsoft.com/office/officeart/2005/8/layout/vList2"/>
    <dgm:cxn modelId="{891CC509-62AB-48F9-902D-FD4508C90068}" type="presParOf" srcId="{CF6D606F-BDCE-42F1-B209-1DE5F7C122F8}" destId="{64ED3BA0-49C9-4D58-A689-D3C07F9ABFD4}" srcOrd="10" destOrd="0" presId="urn:microsoft.com/office/officeart/2005/8/layout/vList2"/>
    <dgm:cxn modelId="{76F6CCD4-59DD-4A65-B2FA-F6666B6F3B56}" type="presParOf" srcId="{CF6D606F-BDCE-42F1-B209-1DE5F7C122F8}" destId="{2FEB2882-FAC2-4F14-8F48-18AA956CE52F}" srcOrd="11" destOrd="0" presId="urn:microsoft.com/office/officeart/2005/8/layout/vList2"/>
    <dgm:cxn modelId="{782DF50D-3EB5-4229-94FF-CECA0510AA2D}" type="presParOf" srcId="{CF6D606F-BDCE-42F1-B209-1DE5F7C122F8}" destId="{72A52DBE-4F43-4E5D-81D8-C90EF9CDEE79}" srcOrd="12" destOrd="0" presId="urn:microsoft.com/office/officeart/2005/8/layout/vList2"/>
    <dgm:cxn modelId="{6C9C3129-F5CC-4707-8F98-4C531816C6E4}" type="presParOf" srcId="{CF6D606F-BDCE-42F1-B209-1DE5F7C122F8}" destId="{654A2F50-2806-4D9D-B1E3-2DE051AAC3C7}" srcOrd="13" destOrd="0" presId="urn:microsoft.com/office/officeart/2005/8/layout/vList2"/>
    <dgm:cxn modelId="{8327AA25-A53B-406C-9138-1BD0512E30B5}" type="presParOf" srcId="{CF6D606F-BDCE-42F1-B209-1DE5F7C122F8}" destId="{CF5EACD9-D008-4E7D-BEDD-30068F330985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82D08F-3D7F-4493-968D-2BD89075455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3A490C-7B4E-48A7-81EE-345FA3768470}">
      <dgm:prSet/>
      <dgm:spPr/>
      <dgm:t>
        <a:bodyPr/>
        <a:lstStyle/>
        <a:p>
          <a:r>
            <a:rPr lang="en-US"/>
            <a:t>The employer group contributes a monthly premium for stop-loss coverage, that is a part of their level-funded health plan invoice from the TPA. </a:t>
          </a:r>
        </a:p>
      </dgm:t>
    </dgm:pt>
    <dgm:pt modelId="{90A42B9A-90C8-4FAD-B6F3-B77C217E9D2A}" type="parTrans" cxnId="{2ECA4A44-01DA-4934-8599-691549A0EE8E}">
      <dgm:prSet/>
      <dgm:spPr/>
      <dgm:t>
        <a:bodyPr/>
        <a:lstStyle/>
        <a:p>
          <a:endParaRPr lang="en-US"/>
        </a:p>
      </dgm:t>
    </dgm:pt>
    <dgm:pt modelId="{06EFDD7F-FB27-418E-A946-87CC8ABDBDE0}" type="sibTrans" cxnId="{2ECA4A44-01DA-4934-8599-691549A0EE8E}">
      <dgm:prSet/>
      <dgm:spPr/>
      <dgm:t>
        <a:bodyPr/>
        <a:lstStyle/>
        <a:p>
          <a:endParaRPr lang="en-US"/>
        </a:p>
      </dgm:t>
    </dgm:pt>
    <dgm:pt modelId="{433A1C80-35EB-4D7C-8B02-8E4F08F10D5F}">
      <dgm:prSet/>
      <dgm:spPr/>
      <dgm:t>
        <a:bodyPr/>
        <a:lstStyle/>
        <a:p>
          <a:r>
            <a:rPr lang="en-US"/>
            <a:t>The premium is based on the employees and the dependents enrolled. </a:t>
          </a:r>
        </a:p>
      </dgm:t>
    </dgm:pt>
    <dgm:pt modelId="{692497FE-A6EC-434B-B91D-8E6AD492798E}" type="parTrans" cxnId="{C686983F-0F6C-42A3-9CBD-C4D4A5FB2CF8}">
      <dgm:prSet/>
      <dgm:spPr/>
      <dgm:t>
        <a:bodyPr/>
        <a:lstStyle/>
        <a:p>
          <a:endParaRPr lang="en-US"/>
        </a:p>
      </dgm:t>
    </dgm:pt>
    <dgm:pt modelId="{D3F50BF9-6805-4D54-A2FF-7A44AF8B994B}" type="sibTrans" cxnId="{C686983F-0F6C-42A3-9CBD-C4D4A5FB2CF8}">
      <dgm:prSet/>
      <dgm:spPr/>
      <dgm:t>
        <a:bodyPr/>
        <a:lstStyle/>
        <a:p>
          <a:endParaRPr lang="en-US"/>
        </a:p>
      </dgm:t>
    </dgm:pt>
    <dgm:pt modelId="{04D9BDE8-42E1-4A35-8455-AEAE778D76FD}" type="pres">
      <dgm:prSet presAssocID="{7282D08F-3D7F-4493-968D-2BD89075455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761780A-BFF9-4A59-9C83-587B24020EA3}" type="pres">
      <dgm:prSet presAssocID="{153A490C-7B4E-48A7-81EE-345FA3768470}" presName="hierRoot1" presStyleCnt="0"/>
      <dgm:spPr/>
    </dgm:pt>
    <dgm:pt modelId="{50496F5C-F5CB-489D-8095-BF07015F59E2}" type="pres">
      <dgm:prSet presAssocID="{153A490C-7B4E-48A7-81EE-345FA3768470}" presName="composite" presStyleCnt="0"/>
      <dgm:spPr/>
    </dgm:pt>
    <dgm:pt modelId="{FFD00FED-3321-43BB-A53B-97AFD748A9D4}" type="pres">
      <dgm:prSet presAssocID="{153A490C-7B4E-48A7-81EE-345FA3768470}" presName="background" presStyleLbl="node0" presStyleIdx="0" presStyleCnt="2"/>
      <dgm:spPr/>
    </dgm:pt>
    <dgm:pt modelId="{253ADB1E-1486-44CD-8F39-7E14C3C9DCD0}" type="pres">
      <dgm:prSet presAssocID="{153A490C-7B4E-48A7-81EE-345FA3768470}" presName="text" presStyleLbl="fgAcc0" presStyleIdx="0" presStyleCnt="2">
        <dgm:presLayoutVars>
          <dgm:chPref val="3"/>
        </dgm:presLayoutVars>
      </dgm:prSet>
      <dgm:spPr/>
    </dgm:pt>
    <dgm:pt modelId="{E1DC2E63-2949-4ACC-BCF5-9B5032B3B371}" type="pres">
      <dgm:prSet presAssocID="{153A490C-7B4E-48A7-81EE-345FA3768470}" presName="hierChild2" presStyleCnt="0"/>
      <dgm:spPr/>
    </dgm:pt>
    <dgm:pt modelId="{77395198-98BD-44BD-8222-9BC4950D66A6}" type="pres">
      <dgm:prSet presAssocID="{433A1C80-35EB-4D7C-8B02-8E4F08F10D5F}" presName="hierRoot1" presStyleCnt="0"/>
      <dgm:spPr/>
    </dgm:pt>
    <dgm:pt modelId="{2540D897-2E13-467A-A137-AFF92E8C3400}" type="pres">
      <dgm:prSet presAssocID="{433A1C80-35EB-4D7C-8B02-8E4F08F10D5F}" presName="composite" presStyleCnt="0"/>
      <dgm:spPr/>
    </dgm:pt>
    <dgm:pt modelId="{553B1DC9-02DB-46D5-9616-8AFF4726EFCC}" type="pres">
      <dgm:prSet presAssocID="{433A1C80-35EB-4D7C-8B02-8E4F08F10D5F}" presName="background" presStyleLbl="node0" presStyleIdx="1" presStyleCnt="2"/>
      <dgm:spPr/>
    </dgm:pt>
    <dgm:pt modelId="{70E5CBEF-2747-4709-A299-D771613E0016}" type="pres">
      <dgm:prSet presAssocID="{433A1C80-35EB-4D7C-8B02-8E4F08F10D5F}" presName="text" presStyleLbl="fgAcc0" presStyleIdx="1" presStyleCnt="2">
        <dgm:presLayoutVars>
          <dgm:chPref val="3"/>
        </dgm:presLayoutVars>
      </dgm:prSet>
      <dgm:spPr/>
    </dgm:pt>
    <dgm:pt modelId="{24F08C23-17C3-4F78-9207-447E5A00F29F}" type="pres">
      <dgm:prSet presAssocID="{433A1C80-35EB-4D7C-8B02-8E4F08F10D5F}" presName="hierChild2" presStyleCnt="0"/>
      <dgm:spPr/>
    </dgm:pt>
  </dgm:ptLst>
  <dgm:cxnLst>
    <dgm:cxn modelId="{2C1C1C01-436F-4907-B9A2-C40BA9D97787}" type="presOf" srcId="{433A1C80-35EB-4D7C-8B02-8E4F08F10D5F}" destId="{70E5CBEF-2747-4709-A299-D771613E0016}" srcOrd="0" destOrd="0" presId="urn:microsoft.com/office/officeart/2005/8/layout/hierarchy1"/>
    <dgm:cxn modelId="{C686983F-0F6C-42A3-9CBD-C4D4A5FB2CF8}" srcId="{7282D08F-3D7F-4493-968D-2BD890754552}" destId="{433A1C80-35EB-4D7C-8B02-8E4F08F10D5F}" srcOrd="1" destOrd="0" parTransId="{692497FE-A6EC-434B-B91D-8E6AD492798E}" sibTransId="{D3F50BF9-6805-4D54-A2FF-7A44AF8B994B}"/>
    <dgm:cxn modelId="{AE50C65C-BD10-4583-A739-0AE7DFBE98C4}" type="presOf" srcId="{7282D08F-3D7F-4493-968D-2BD890754552}" destId="{04D9BDE8-42E1-4A35-8455-AEAE778D76FD}" srcOrd="0" destOrd="0" presId="urn:microsoft.com/office/officeart/2005/8/layout/hierarchy1"/>
    <dgm:cxn modelId="{2ECA4A44-01DA-4934-8599-691549A0EE8E}" srcId="{7282D08F-3D7F-4493-968D-2BD890754552}" destId="{153A490C-7B4E-48A7-81EE-345FA3768470}" srcOrd="0" destOrd="0" parTransId="{90A42B9A-90C8-4FAD-B6F3-B77C217E9D2A}" sibTransId="{06EFDD7F-FB27-418E-A946-87CC8ABDBDE0}"/>
    <dgm:cxn modelId="{DF041CAE-7FD9-418A-9C71-59A4B1958B42}" type="presOf" srcId="{153A490C-7B4E-48A7-81EE-345FA3768470}" destId="{253ADB1E-1486-44CD-8F39-7E14C3C9DCD0}" srcOrd="0" destOrd="0" presId="urn:microsoft.com/office/officeart/2005/8/layout/hierarchy1"/>
    <dgm:cxn modelId="{057A89E0-8D5A-4DF6-8FE4-653A5BA5809C}" type="presParOf" srcId="{04D9BDE8-42E1-4A35-8455-AEAE778D76FD}" destId="{A761780A-BFF9-4A59-9C83-587B24020EA3}" srcOrd="0" destOrd="0" presId="urn:microsoft.com/office/officeart/2005/8/layout/hierarchy1"/>
    <dgm:cxn modelId="{45BF687D-4F66-44F7-A827-8647C3AEC3B5}" type="presParOf" srcId="{A761780A-BFF9-4A59-9C83-587B24020EA3}" destId="{50496F5C-F5CB-489D-8095-BF07015F59E2}" srcOrd="0" destOrd="0" presId="urn:microsoft.com/office/officeart/2005/8/layout/hierarchy1"/>
    <dgm:cxn modelId="{B37D936D-742B-4C7D-A964-D5AA6F962709}" type="presParOf" srcId="{50496F5C-F5CB-489D-8095-BF07015F59E2}" destId="{FFD00FED-3321-43BB-A53B-97AFD748A9D4}" srcOrd="0" destOrd="0" presId="urn:microsoft.com/office/officeart/2005/8/layout/hierarchy1"/>
    <dgm:cxn modelId="{3ECD0BB6-C6A4-47AE-BC47-47E540DA518C}" type="presParOf" srcId="{50496F5C-F5CB-489D-8095-BF07015F59E2}" destId="{253ADB1E-1486-44CD-8F39-7E14C3C9DCD0}" srcOrd="1" destOrd="0" presId="urn:microsoft.com/office/officeart/2005/8/layout/hierarchy1"/>
    <dgm:cxn modelId="{A865A11F-6FEC-4ABA-8412-F45D8F91F142}" type="presParOf" srcId="{A761780A-BFF9-4A59-9C83-587B24020EA3}" destId="{E1DC2E63-2949-4ACC-BCF5-9B5032B3B371}" srcOrd="1" destOrd="0" presId="urn:microsoft.com/office/officeart/2005/8/layout/hierarchy1"/>
    <dgm:cxn modelId="{82BA9384-F2DE-4C5F-92B4-DC0551A1977E}" type="presParOf" srcId="{04D9BDE8-42E1-4A35-8455-AEAE778D76FD}" destId="{77395198-98BD-44BD-8222-9BC4950D66A6}" srcOrd="1" destOrd="0" presId="urn:microsoft.com/office/officeart/2005/8/layout/hierarchy1"/>
    <dgm:cxn modelId="{61879015-5B2B-4498-AA91-F1FD27E8F0FE}" type="presParOf" srcId="{77395198-98BD-44BD-8222-9BC4950D66A6}" destId="{2540D897-2E13-467A-A137-AFF92E8C3400}" srcOrd="0" destOrd="0" presId="urn:microsoft.com/office/officeart/2005/8/layout/hierarchy1"/>
    <dgm:cxn modelId="{C145D69B-EE0A-4CE8-B693-E58C1060FC72}" type="presParOf" srcId="{2540D897-2E13-467A-A137-AFF92E8C3400}" destId="{553B1DC9-02DB-46D5-9616-8AFF4726EFCC}" srcOrd="0" destOrd="0" presId="urn:microsoft.com/office/officeart/2005/8/layout/hierarchy1"/>
    <dgm:cxn modelId="{85D9214C-418A-4999-B63C-1BEFBB12C135}" type="presParOf" srcId="{2540D897-2E13-467A-A137-AFF92E8C3400}" destId="{70E5CBEF-2747-4709-A299-D771613E0016}" srcOrd="1" destOrd="0" presId="urn:microsoft.com/office/officeart/2005/8/layout/hierarchy1"/>
    <dgm:cxn modelId="{7C712CD1-E0B8-4032-921B-A95A4EB47923}" type="presParOf" srcId="{77395198-98BD-44BD-8222-9BC4950D66A6}" destId="{24F08C23-17C3-4F78-9207-447E5A00F29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6AAAF1-5196-4F57-9754-AE7F09F0F5E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452D1AD-E70B-44DC-844A-84D2833FF057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US" dirty="0"/>
            <a:t>If a claim exceeds the group's stop-loss deductible or weekly aggregate accommodation, the TPA submits it to the stop-loss carrier. </a:t>
          </a:r>
        </a:p>
      </dgm:t>
    </dgm:pt>
    <dgm:pt modelId="{94AD868A-1B66-4DB8-A160-7CE5C6F5DFF3}" type="parTrans" cxnId="{0AAA6E06-1821-4DB7-A780-3E310897E289}">
      <dgm:prSet/>
      <dgm:spPr/>
      <dgm:t>
        <a:bodyPr/>
        <a:lstStyle/>
        <a:p>
          <a:endParaRPr lang="en-US"/>
        </a:p>
      </dgm:t>
    </dgm:pt>
    <dgm:pt modelId="{659BB0BD-A5AA-4A63-847B-F5B5557AF14F}" type="sibTrans" cxnId="{0AAA6E06-1821-4DB7-A780-3E310897E289}">
      <dgm:prSet/>
      <dgm:spPr>
        <a:solidFill>
          <a:srgbClr val="00B050">
            <a:alpha val="90000"/>
          </a:srgbClr>
        </a:solidFill>
        <a:ln>
          <a:solidFill>
            <a:schemeClr val="bg1">
              <a:lumMod val="95000"/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B0AFFAD8-94FC-47DA-B9A9-DC7E7D8DD3F2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/>
            <a:t>The carrier issues payment to the TPA. </a:t>
          </a:r>
        </a:p>
      </dgm:t>
    </dgm:pt>
    <dgm:pt modelId="{303B8840-CE41-4CCD-B175-F4D174C23128}" type="parTrans" cxnId="{0988AA28-4DA0-4ADF-8848-18F8D60AF0CD}">
      <dgm:prSet/>
      <dgm:spPr/>
      <dgm:t>
        <a:bodyPr/>
        <a:lstStyle/>
        <a:p>
          <a:endParaRPr lang="en-US"/>
        </a:p>
      </dgm:t>
    </dgm:pt>
    <dgm:pt modelId="{2F8D8878-3D96-44BA-A0AC-B84D1917897C}" type="sibTrans" cxnId="{0988AA28-4DA0-4ADF-8848-18F8D60AF0CD}">
      <dgm:prSet/>
      <dgm:spPr>
        <a:solidFill>
          <a:srgbClr val="00B050">
            <a:alpha val="90000"/>
          </a:srgbClr>
        </a:solidFill>
        <a:ln>
          <a:solidFill>
            <a:schemeClr val="bg1"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BAF9C99C-5FAB-4920-BBEE-2CB00C639246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/>
            <a:t>Then seeks reimbursement from the captive if the claim falls within the reinsured layer owned by the captive. </a:t>
          </a:r>
        </a:p>
      </dgm:t>
    </dgm:pt>
    <dgm:pt modelId="{0579F707-0AE2-4E62-8563-AA9083BBE937}" type="parTrans" cxnId="{32DFA81F-5E09-4AA9-9A0C-B8F5134F9D46}">
      <dgm:prSet/>
      <dgm:spPr/>
      <dgm:t>
        <a:bodyPr/>
        <a:lstStyle/>
        <a:p>
          <a:endParaRPr lang="en-US"/>
        </a:p>
      </dgm:t>
    </dgm:pt>
    <dgm:pt modelId="{994CCC27-B14D-46E4-B4C3-298E0E9ECF3F}" type="sibTrans" cxnId="{32DFA81F-5E09-4AA9-9A0C-B8F5134F9D46}">
      <dgm:prSet/>
      <dgm:spPr>
        <a:solidFill>
          <a:srgbClr val="00B050">
            <a:alpha val="90000"/>
          </a:srgbClr>
        </a:solidFill>
        <a:ln>
          <a:solidFill>
            <a:schemeClr val="bg1"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7AD1FE37-5875-49CE-ABDA-9EAC1AC9FA16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Once the contract term is up. The captive, employer group, and the stop loss carrier all ‘settle-up’. </a:t>
          </a:r>
        </a:p>
      </dgm:t>
    </dgm:pt>
    <dgm:pt modelId="{7DA15B61-55AF-4A29-ADBA-F83B1BE5362B}" type="parTrans" cxnId="{FEED7AC0-C96C-4C83-B816-DB7302AAA54E}">
      <dgm:prSet/>
      <dgm:spPr/>
      <dgm:t>
        <a:bodyPr/>
        <a:lstStyle/>
        <a:p>
          <a:endParaRPr lang="en-US"/>
        </a:p>
      </dgm:t>
    </dgm:pt>
    <dgm:pt modelId="{3CAB9E19-7BBB-42D8-824D-978F3551B35B}" type="sibTrans" cxnId="{FEED7AC0-C96C-4C83-B816-DB7302AAA54E}">
      <dgm:prSet/>
      <dgm:spPr/>
      <dgm:t>
        <a:bodyPr/>
        <a:lstStyle/>
        <a:p>
          <a:endParaRPr lang="en-US"/>
        </a:p>
      </dgm:t>
    </dgm:pt>
    <dgm:pt modelId="{91F52A5D-F9A7-4B00-877D-C2EA956E761D}" type="pres">
      <dgm:prSet presAssocID="{DA6AAAF1-5196-4F57-9754-AE7F09F0F5EF}" presName="outerComposite" presStyleCnt="0">
        <dgm:presLayoutVars>
          <dgm:chMax val="5"/>
          <dgm:dir/>
          <dgm:resizeHandles val="exact"/>
        </dgm:presLayoutVars>
      </dgm:prSet>
      <dgm:spPr/>
    </dgm:pt>
    <dgm:pt modelId="{5E7E09E7-A53C-49A3-A565-63BA13936094}" type="pres">
      <dgm:prSet presAssocID="{DA6AAAF1-5196-4F57-9754-AE7F09F0F5EF}" presName="dummyMaxCanvas" presStyleCnt="0">
        <dgm:presLayoutVars/>
      </dgm:prSet>
      <dgm:spPr/>
    </dgm:pt>
    <dgm:pt modelId="{0494E2CE-3E5A-466C-8E81-9DC32995C78F}" type="pres">
      <dgm:prSet presAssocID="{DA6AAAF1-5196-4F57-9754-AE7F09F0F5EF}" presName="FourNodes_1" presStyleLbl="node1" presStyleIdx="0" presStyleCnt="4">
        <dgm:presLayoutVars>
          <dgm:bulletEnabled val="1"/>
        </dgm:presLayoutVars>
      </dgm:prSet>
      <dgm:spPr/>
    </dgm:pt>
    <dgm:pt modelId="{A203DBF0-8FFD-41D0-897A-49325C9283C1}" type="pres">
      <dgm:prSet presAssocID="{DA6AAAF1-5196-4F57-9754-AE7F09F0F5EF}" presName="FourNodes_2" presStyleLbl="node1" presStyleIdx="1" presStyleCnt="4">
        <dgm:presLayoutVars>
          <dgm:bulletEnabled val="1"/>
        </dgm:presLayoutVars>
      </dgm:prSet>
      <dgm:spPr/>
    </dgm:pt>
    <dgm:pt modelId="{BD18D846-38E2-4845-B11B-FE8D7BA787B4}" type="pres">
      <dgm:prSet presAssocID="{DA6AAAF1-5196-4F57-9754-AE7F09F0F5EF}" presName="FourNodes_3" presStyleLbl="node1" presStyleIdx="2" presStyleCnt="4">
        <dgm:presLayoutVars>
          <dgm:bulletEnabled val="1"/>
        </dgm:presLayoutVars>
      </dgm:prSet>
      <dgm:spPr/>
    </dgm:pt>
    <dgm:pt modelId="{8DD53B7A-6AAC-4578-AF5E-1BDD03A3026D}" type="pres">
      <dgm:prSet presAssocID="{DA6AAAF1-5196-4F57-9754-AE7F09F0F5EF}" presName="FourNodes_4" presStyleLbl="node1" presStyleIdx="3" presStyleCnt="4">
        <dgm:presLayoutVars>
          <dgm:bulletEnabled val="1"/>
        </dgm:presLayoutVars>
      </dgm:prSet>
      <dgm:spPr/>
    </dgm:pt>
    <dgm:pt modelId="{8C81045C-2B30-47DA-86E9-DE0D38082063}" type="pres">
      <dgm:prSet presAssocID="{DA6AAAF1-5196-4F57-9754-AE7F09F0F5EF}" presName="FourConn_1-2" presStyleLbl="fgAccFollowNode1" presStyleIdx="0" presStyleCnt="3">
        <dgm:presLayoutVars>
          <dgm:bulletEnabled val="1"/>
        </dgm:presLayoutVars>
      </dgm:prSet>
      <dgm:spPr/>
    </dgm:pt>
    <dgm:pt modelId="{F18D7322-0593-4FDA-89FC-1ADED3DE1A14}" type="pres">
      <dgm:prSet presAssocID="{DA6AAAF1-5196-4F57-9754-AE7F09F0F5EF}" presName="FourConn_2-3" presStyleLbl="fgAccFollowNode1" presStyleIdx="1" presStyleCnt="3">
        <dgm:presLayoutVars>
          <dgm:bulletEnabled val="1"/>
        </dgm:presLayoutVars>
      </dgm:prSet>
      <dgm:spPr/>
    </dgm:pt>
    <dgm:pt modelId="{0A6B1D52-E4F2-467C-AACC-356A292B0BDA}" type="pres">
      <dgm:prSet presAssocID="{DA6AAAF1-5196-4F57-9754-AE7F09F0F5EF}" presName="FourConn_3-4" presStyleLbl="fgAccFollowNode1" presStyleIdx="2" presStyleCnt="3">
        <dgm:presLayoutVars>
          <dgm:bulletEnabled val="1"/>
        </dgm:presLayoutVars>
      </dgm:prSet>
      <dgm:spPr/>
    </dgm:pt>
    <dgm:pt modelId="{ED86F9DE-0F77-47ED-9FE8-35879E3F72A9}" type="pres">
      <dgm:prSet presAssocID="{DA6AAAF1-5196-4F57-9754-AE7F09F0F5EF}" presName="FourNodes_1_text" presStyleLbl="node1" presStyleIdx="3" presStyleCnt="4">
        <dgm:presLayoutVars>
          <dgm:bulletEnabled val="1"/>
        </dgm:presLayoutVars>
      </dgm:prSet>
      <dgm:spPr/>
    </dgm:pt>
    <dgm:pt modelId="{646AE91F-627D-478F-A6F4-0C6042276C6C}" type="pres">
      <dgm:prSet presAssocID="{DA6AAAF1-5196-4F57-9754-AE7F09F0F5EF}" presName="FourNodes_2_text" presStyleLbl="node1" presStyleIdx="3" presStyleCnt="4">
        <dgm:presLayoutVars>
          <dgm:bulletEnabled val="1"/>
        </dgm:presLayoutVars>
      </dgm:prSet>
      <dgm:spPr/>
    </dgm:pt>
    <dgm:pt modelId="{031357DC-16B0-4237-9C59-1F227746CEAD}" type="pres">
      <dgm:prSet presAssocID="{DA6AAAF1-5196-4F57-9754-AE7F09F0F5EF}" presName="FourNodes_3_text" presStyleLbl="node1" presStyleIdx="3" presStyleCnt="4">
        <dgm:presLayoutVars>
          <dgm:bulletEnabled val="1"/>
        </dgm:presLayoutVars>
      </dgm:prSet>
      <dgm:spPr/>
    </dgm:pt>
    <dgm:pt modelId="{BD4425D1-A9BB-4957-BC79-82FAFDBE3005}" type="pres">
      <dgm:prSet presAssocID="{DA6AAAF1-5196-4F57-9754-AE7F09F0F5E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AAA6E06-1821-4DB7-A780-3E310897E289}" srcId="{DA6AAAF1-5196-4F57-9754-AE7F09F0F5EF}" destId="{4452D1AD-E70B-44DC-844A-84D2833FF057}" srcOrd="0" destOrd="0" parTransId="{94AD868A-1B66-4DB8-A160-7CE5C6F5DFF3}" sibTransId="{659BB0BD-A5AA-4A63-847B-F5B5557AF14F}"/>
    <dgm:cxn modelId="{F7745307-1C4A-4A85-B9CC-3E79680260F3}" type="presOf" srcId="{B0AFFAD8-94FC-47DA-B9A9-DC7E7D8DD3F2}" destId="{646AE91F-627D-478F-A6F4-0C6042276C6C}" srcOrd="1" destOrd="0" presId="urn:microsoft.com/office/officeart/2005/8/layout/vProcess5"/>
    <dgm:cxn modelId="{D413C418-DCB4-436C-8EB7-239D2ED255E7}" type="presOf" srcId="{BAF9C99C-5FAB-4920-BBEE-2CB00C639246}" destId="{031357DC-16B0-4237-9C59-1F227746CEAD}" srcOrd="1" destOrd="0" presId="urn:microsoft.com/office/officeart/2005/8/layout/vProcess5"/>
    <dgm:cxn modelId="{32DFA81F-5E09-4AA9-9A0C-B8F5134F9D46}" srcId="{DA6AAAF1-5196-4F57-9754-AE7F09F0F5EF}" destId="{BAF9C99C-5FAB-4920-BBEE-2CB00C639246}" srcOrd="2" destOrd="0" parTransId="{0579F707-0AE2-4E62-8563-AA9083BBE937}" sibTransId="{994CCC27-B14D-46E4-B4C3-298E0E9ECF3F}"/>
    <dgm:cxn modelId="{9A799720-49D2-4F83-9062-3636B8CF90DF}" type="presOf" srcId="{994CCC27-B14D-46E4-B4C3-298E0E9ECF3F}" destId="{0A6B1D52-E4F2-467C-AACC-356A292B0BDA}" srcOrd="0" destOrd="0" presId="urn:microsoft.com/office/officeart/2005/8/layout/vProcess5"/>
    <dgm:cxn modelId="{0988AA28-4DA0-4ADF-8848-18F8D60AF0CD}" srcId="{DA6AAAF1-5196-4F57-9754-AE7F09F0F5EF}" destId="{B0AFFAD8-94FC-47DA-B9A9-DC7E7D8DD3F2}" srcOrd="1" destOrd="0" parTransId="{303B8840-CE41-4CCD-B175-F4D174C23128}" sibTransId="{2F8D8878-3D96-44BA-A0AC-B84D1917897C}"/>
    <dgm:cxn modelId="{3FE4322E-2E77-4BF7-9AA8-98E19238A6B2}" type="presOf" srcId="{B0AFFAD8-94FC-47DA-B9A9-DC7E7D8DD3F2}" destId="{A203DBF0-8FFD-41D0-897A-49325C9283C1}" srcOrd="0" destOrd="0" presId="urn:microsoft.com/office/officeart/2005/8/layout/vProcess5"/>
    <dgm:cxn modelId="{BADFF475-0CD5-4FDD-9DB1-D4430B8F4660}" type="presOf" srcId="{7AD1FE37-5875-49CE-ABDA-9EAC1AC9FA16}" destId="{8DD53B7A-6AAC-4578-AF5E-1BDD03A3026D}" srcOrd="0" destOrd="0" presId="urn:microsoft.com/office/officeart/2005/8/layout/vProcess5"/>
    <dgm:cxn modelId="{273D3376-0552-41A3-98E0-846F5CFF2EAD}" type="presOf" srcId="{DA6AAAF1-5196-4F57-9754-AE7F09F0F5EF}" destId="{91F52A5D-F9A7-4B00-877D-C2EA956E761D}" srcOrd="0" destOrd="0" presId="urn:microsoft.com/office/officeart/2005/8/layout/vProcess5"/>
    <dgm:cxn modelId="{C87A3980-5F34-4C77-99A1-E632928F4EE0}" type="presOf" srcId="{7AD1FE37-5875-49CE-ABDA-9EAC1AC9FA16}" destId="{BD4425D1-A9BB-4957-BC79-82FAFDBE3005}" srcOrd="1" destOrd="0" presId="urn:microsoft.com/office/officeart/2005/8/layout/vProcess5"/>
    <dgm:cxn modelId="{F2015E8B-F35D-4D62-8F60-4B2320E2E429}" type="presOf" srcId="{659BB0BD-A5AA-4A63-847B-F5B5557AF14F}" destId="{8C81045C-2B30-47DA-86E9-DE0D38082063}" srcOrd="0" destOrd="0" presId="urn:microsoft.com/office/officeart/2005/8/layout/vProcess5"/>
    <dgm:cxn modelId="{41DB1B8F-AECB-49D8-9D13-2C41C88E6BB1}" type="presOf" srcId="{4452D1AD-E70B-44DC-844A-84D2833FF057}" destId="{ED86F9DE-0F77-47ED-9FE8-35879E3F72A9}" srcOrd="1" destOrd="0" presId="urn:microsoft.com/office/officeart/2005/8/layout/vProcess5"/>
    <dgm:cxn modelId="{A7C58992-3EE9-463A-8E90-ABEA854C88FF}" type="presOf" srcId="{4452D1AD-E70B-44DC-844A-84D2833FF057}" destId="{0494E2CE-3E5A-466C-8E81-9DC32995C78F}" srcOrd="0" destOrd="0" presId="urn:microsoft.com/office/officeart/2005/8/layout/vProcess5"/>
    <dgm:cxn modelId="{FEED7AC0-C96C-4C83-B816-DB7302AAA54E}" srcId="{DA6AAAF1-5196-4F57-9754-AE7F09F0F5EF}" destId="{7AD1FE37-5875-49CE-ABDA-9EAC1AC9FA16}" srcOrd="3" destOrd="0" parTransId="{7DA15B61-55AF-4A29-ADBA-F83B1BE5362B}" sibTransId="{3CAB9E19-7BBB-42D8-824D-978F3551B35B}"/>
    <dgm:cxn modelId="{7FC508CA-62FF-48AA-88C0-676DDD4A399A}" type="presOf" srcId="{BAF9C99C-5FAB-4920-BBEE-2CB00C639246}" destId="{BD18D846-38E2-4845-B11B-FE8D7BA787B4}" srcOrd="0" destOrd="0" presId="urn:microsoft.com/office/officeart/2005/8/layout/vProcess5"/>
    <dgm:cxn modelId="{8B864FDB-F5CB-448E-84D3-63425D035D1A}" type="presOf" srcId="{2F8D8878-3D96-44BA-A0AC-B84D1917897C}" destId="{F18D7322-0593-4FDA-89FC-1ADED3DE1A14}" srcOrd="0" destOrd="0" presId="urn:microsoft.com/office/officeart/2005/8/layout/vProcess5"/>
    <dgm:cxn modelId="{3A9A174D-3C0B-431F-867D-B7E74A046A7D}" type="presParOf" srcId="{91F52A5D-F9A7-4B00-877D-C2EA956E761D}" destId="{5E7E09E7-A53C-49A3-A565-63BA13936094}" srcOrd="0" destOrd="0" presId="urn:microsoft.com/office/officeart/2005/8/layout/vProcess5"/>
    <dgm:cxn modelId="{9F2915B7-446F-4448-83A8-4FB831A378D2}" type="presParOf" srcId="{91F52A5D-F9A7-4B00-877D-C2EA956E761D}" destId="{0494E2CE-3E5A-466C-8E81-9DC32995C78F}" srcOrd="1" destOrd="0" presId="urn:microsoft.com/office/officeart/2005/8/layout/vProcess5"/>
    <dgm:cxn modelId="{4E8BDEE1-C483-4824-B45F-49A00176F82E}" type="presParOf" srcId="{91F52A5D-F9A7-4B00-877D-C2EA956E761D}" destId="{A203DBF0-8FFD-41D0-897A-49325C9283C1}" srcOrd="2" destOrd="0" presId="urn:microsoft.com/office/officeart/2005/8/layout/vProcess5"/>
    <dgm:cxn modelId="{EBF92398-C41D-4249-800F-2504789F8FAB}" type="presParOf" srcId="{91F52A5D-F9A7-4B00-877D-C2EA956E761D}" destId="{BD18D846-38E2-4845-B11B-FE8D7BA787B4}" srcOrd="3" destOrd="0" presId="urn:microsoft.com/office/officeart/2005/8/layout/vProcess5"/>
    <dgm:cxn modelId="{8D1A8A2C-9907-4F66-BB98-9F3FDB1AFB21}" type="presParOf" srcId="{91F52A5D-F9A7-4B00-877D-C2EA956E761D}" destId="{8DD53B7A-6AAC-4578-AF5E-1BDD03A3026D}" srcOrd="4" destOrd="0" presId="urn:microsoft.com/office/officeart/2005/8/layout/vProcess5"/>
    <dgm:cxn modelId="{B86FBE9E-3456-436B-A54D-2B1359451074}" type="presParOf" srcId="{91F52A5D-F9A7-4B00-877D-C2EA956E761D}" destId="{8C81045C-2B30-47DA-86E9-DE0D38082063}" srcOrd="5" destOrd="0" presId="urn:microsoft.com/office/officeart/2005/8/layout/vProcess5"/>
    <dgm:cxn modelId="{BCA806C6-9983-4961-B850-2D9D5CEC46DC}" type="presParOf" srcId="{91F52A5D-F9A7-4B00-877D-C2EA956E761D}" destId="{F18D7322-0593-4FDA-89FC-1ADED3DE1A14}" srcOrd="6" destOrd="0" presId="urn:microsoft.com/office/officeart/2005/8/layout/vProcess5"/>
    <dgm:cxn modelId="{C9C4CB34-31D1-4413-85BA-722841EE5F47}" type="presParOf" srcId="{91F52A5D-F9A7-4B00-877D-C2EA956E761D}" destId="{0A6B1D52-E4F2-467C-AACC-356A292B0BDA}" srcOrd="7" destOrd="0" presId="urn:microsoft.com/office/officeart/2005/8/layout/vProcess5"/>
    <dgm:cxn modelId="{8C63A9CB-9880-4B2D-945F-A0AD887F2442}" type="presParOf" srcId="{91F52A5D-F9A7-4B00-877D-C2EA956E761D}" destId="{ED86F9DE-0F77-47ED-9FE8-35879E3F72A9}" srcOrd="8" destOrd="0" presId="urn:microsoft.com/office/officeart/2005/8/layout/vProcess5"/>
    <dgm:cxn modelId="{69AF7B2E-BDC6-476B-9A6B-2598C0DB2EE0}" type="presParOf" srcId="{91F52A5D-F9A7-4B00-877D-C2EA956E761D}" destId="{646AE91F-627D-478F-A6F4-0C6042276C6C}" srcOrd="9" destOrd="0" presId="urn:microsoft.com/office/officeart/2005/8/layout/vProcess5"/>
    <dgm:cxn modelId="{407A8A32-76AE-4F56-A2F4-20094FF230D9}" type="presParOf" srcId="{91F52A5D-F9A7-4B00-877D-C2EA956E761D}" destId="{031357DC-16B0-4237-9C59-1F227746CEAD}" srcOrd="10" destOrd="0" presId="urn:microsoft.com/office/officeart/2005/8/layout/vProcess5"/>
    <dgm:cxn modelId="{B4E5468A-9326-47B7-97B8-DC2DFF44D324}" type="presParOf" srcId="{91F52A5D-F9A7-4B00-877D-C2EA956E761D}" destId="{BD4425D1-A9BB-4957-BC79-82FAFDBE300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73C63-F5F7-4B56-8D72-22712BB6E400}">
      <dsp:nvSpPr>
        <dsp:cNvPr id="0" name=""/>
        <dsp:cNvSpPr/>
      </dsp:nvSpPr>
      <dsp:spPr>
        <a:xfrm>
          <a:off x="0" y="69333"/>
          <a:ext cx="3646835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Greater control over program design </a:t>
          </a:r>
        </a:p>
      </dsp:txBody>
      <dsp:txXfrm>
        <a:off x="31028" y="100361"/>
        <a:ext cx="3584779" cy="573546"/>
      </dsp:txXfrm>
    </dsp:sp>
    <dsp:sp modelId="{39893E62-5F9D-445B-B7D9-58AC91BA3CC0}">
      <dsp:nvSpPr>
        <dsp:cNvPr id="0" name=""/>
        <dsp:cNvSpPr/>
      </dsp:nvSpPr>
      <dsp:spPr>
        <a:xfrm>
          <a:off x="0" y="751015"/>
          <a:ext cx="3646835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Potential for underwriting profit return to captive participants</a:t>
          </a:r>
        </a:p>
      </dsp:txBody>
      <dsp:txXfrm>
        <a:off x="31028" y="782043"/>
        <a:ext cx="3584779" cy="573546"/>
      </dsp:txXfrm>
    </dsp:sp>
    <dsp:sp modelId="{38FB5FC5-E601-408D-9B50-076E7C60C78A}">
      <dsp:nvSpPr>
        <dsp:cNvPr id="0" name=""/>
        <dsp:cNvSpPr/>
      </dsp:nvSpPr>
      <dsp:spPr>
        <a:xfrm>
          <a:off x="0" y="1432698"/>
          <a:ext cx="3646835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Improved transparency and alignment of incentives among stakeholders</a:t>
          </a:r>
        </a:p>
      </dsp:txBody>
      <dsp:txXfrm>
        <a:off x="31028" y="1463726"/>
        <a:ext cx="3584779" cy="573546"/>
      </dsp:txXfrm>
    </dsp:sp>
    <dsp:sp modelId="{5AAAC28E-3281-4AEF-8F15-3066150B9C3F}">
      <dsp:nvSpPr>
        <dsp:cNvPr id="0" name=""/>
        <dsp:cNvSpPr/>
      </dsp:nvSpPr>
      <dsp:spPr>
        <a:xfrm>
          <a:off x="0" y="2114381"/>
          <a:ext cx="3646835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Access to claims data and utilization insights for better decision-making</a:t>
          </a:r>
        </a:p>
      </dsp:txBody>
      <dsp:txXfrm>
        <a:off x="31028" y="2145409"/>
        <a:ext cx="3584779" cy="573546"/>
      </dsp:txXfrm>
    </dsp:sp>
    <dsp:sp modelId="{980C3CCC-53C0-41DD-B0D6-32E16EE83DC1}">
      <dsp:nvSpPr>
        <dsp:cNvPr id="0" name=""/>
        <dsp:cNvSpPr/>
      </dsp:nvSpPr>
      <dsp:spPr>
        <a:xfrm>
          <a:off x="0" y="2796063"/>
          <a:ext cx="3646835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Spreads risk across multiple employers for added stability</a:t>
          </a:r>
        </a:p>
      </dsp:txBody>
      <dsp:txXfrm>
        <a:off x="31028" y="2827091"/>
        <a:ext cx="3584779" cy="573546"/>
      </dsp:txXfrm>
    </dsp:sp>
    <dsp:sp modelId="{64ED3BA0-49C9-4D58-A689-D3C07F9ABFD4}">
      <dsp:nvSpPr>
        <dsp:cNvPr id="0" name=""/>
        <dsp:cNvSpPr/>
      </dsp:nvSpPr>
      <dsp:spPr>
        <a:xfrm>
          <a:off x="0" y="3477746"/>
          <a:ext cx="3646835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Participation in a shared reinsurance pool with like-minded employers</a:t>
          </a:r>
        </a:p>
      </dsp:txBody>
      <dsp:txXfrm>
        <a:off x="31028" y="3508774"/>
        <a:ext cx="3584779" cy="573546"/>
      </dsp:txXfrm>
    </dsp:sp>
    <dsp:sp modelId="{72A52DBE-4F43-4E5D-81D8-C90EF9CDEE79}">
      <dsp:nvSpPr>
        <dsp:cNvPr id="0" name=""/>
        <dsp:cNvSpPr/>
      </dsp:nvSpPr>
      <dsp:spPr>
        <a:xfrm>
          <a:off x="0" y="4159428"/>
          <a:ext cx="3646835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Opportunity to capture investment income on reserves</a:t>
          </a:r>
        </a:p>
      </dsp:txBody>
      <dsp:txXfrm>
        <a:off x="31028" y="4190456"/>
        <a:ext cx="3584779" cy="573546"/>
      </dsp:txXfrm>
    </dsp:sp>
    <dsp:sp modelId="{CF5EACD9-D008-4E7D-BEDD-30068F330985}">
      <dsp:nvSpPr>
        <dsp:cNvPr id="0" name=""/>
        <dsp:cNvSpPr/>
      </dsp:nvSpPr>
      <dsp:spPr>
        <a:xfrm>
          <a:off x="0" y="4841111"/>
          <a:ext cx="3646835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Ability to implement and reward effective cost containment strategies</a:t>
          </a:r>
        </a:p>
      </dsp:txBody>
      <dsp:txXfrm>
        <a:off x="31028" y="4872139"/>
        <a:ext cx="3584779" cy="5735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D00FED-3321-43BB-A53B-97AFD748A9D4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ADB1E-1486-44CD-8F39-7E14C3C9DCD0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employer group contributes a monthly premium for stop-loss coverage, that is a part of their level-funded health plan invoice from the TPA. </a:t>
          </a:r>
        </a:p>
      </dsp:txBody>
      <dsp:txXfrm>
        <a:off x="456496" y="980400"/>
        <a:ext cx="3381034" cy="2099279"/>
      </dsp:txXfrm>
    </dsp:sp>
    <dsp:sp modelId="{553B1DC9-02DB-46D5-9616-8AFF4726EFCC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E5CBEF-2747-4709-A299-D771613E0016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premium is based on the employees and the dependents enrolled. </a:t>
          </a:r>
        </a:p>
      </dsp:txBody>
      <dsp:txXfrm>
        <a:off x="4748523" y="980400"/>
        <a:ext cx="3381034" cy="20992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94E2CE-3E5A-466C-8E81-9DC32995C78F}">
      <dsp:nvSpPr>
        <dsp:cNvPr id="0" name=""/>
        <dsp:cNvSpPr/>
      </dsp:nvSpPr>
      <dsp:spPr>
        <a:xfrm>
          <a:off x="0" y="0"/>
          <a:ext cx="6556696" cy="922417"/>
        </a:xfrm>
        <a:prstGeom prst="roundRect">
          <a:avLst>
            <a:gd name="adj" fmla="val 10000"/>
          </a:avLst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If a claim exceeds the group's stop-loss deductible or weekly aggregate accommodation, the TPA submits it to the stop-loss carrier. </a:t>
          </a:r>
        </a:p>
      </dsp:txBody>
      <dsp:txXfrm>
        <a:off x="27017" y="27017"/>
        <a:ext cx="5483391" cy="868383"/>
      </dsp:txXfrm>
    </dsp:sp>
    <dsp:sp modelId="{A203DBF0-8FFD-41D0-897A-49325C9283C1}">
      <dsp:nvSpPr>
        <dsp:cNvPr id="0" name=""/>
        <dsp:cNvSpPr/>
      </dsp:nvSpPr>
      <dsp:spPr>
        <a:xfrm>
          <a:off x="549123" y="1090129"/>
          <a:ext cx="6556696" cy="922417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carrier issues payment to the TPA. </a:t>
          </a:r>
        </a:p>
      </dsp:txBody>
      <dsp:txXfrm>
        <a:off x="576140" y="1117146"/>
        <a:ext cx="5353968" cy="868383"/>
      </dsp:txXfrm>
    </dsp:sp>
    <dsp:sp modelId="{BD18D846-38E2-4845-B11B-FE8D7BA787B4}">
      <dsp:nvSpPr>
        <dsp:cNvPr id="0" name=""/>
        <dsp:cNvSpPr/>
      </dsp:nvSpPr>
      <dsp:spPr>
        <a:xfrm>
          <a:off x="1090050" y="2180258"/>
          <a:ext cx="6556696" cy="922417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Then seeks reimbursement from the captive if the claim falls within the reinsured layer owned by the captive. </a:t>
          </a:r>
        </a:p>
      </dsp:txBody>
      <dsp:txXfrm>
        <a:off x="1117067" y="2207275"/>
        <a:ext cx="5362164" cy="868383"/>
      </dsp:txXfrm>
    </dsp:sp>
    <dsp:sp modelId="{8DD53B7A-6AAC-4578-AF5E-1BDD03A3026D}">
      <dsp:nvSpPr>
        <dsp:cNvPr id="0" name=""/>
        <dsp:cNvSpPr/>
      </dsp:nvSpPr>
      <dsp:spPr>
        <a:xfrm>
          <a:off x="1639174" y="3270387"/>
          <a:ext cx="6556696" cy="922417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Once the contract term is up. The captive, employer group, and the stop loss carrier all ‘settle-up’. </a:t>
          </a:r>
        </a:p>
      </dsp:txBody>
      <dsp:txXfrm>
        <a:off x="1666191" y="3297404"/>
        <a:ext cx="5353968" cy="868383"/>
      </dsp:txXfrm>
    </dsp:sp>
    <dsp:sp modelId="{8C81045C-2B30-47DA-86E9-DE0D38082063}">
      <dsp:nvSpPr>
        <dsp:cNvPr id="0" name=""/>
        <dsp:cNvSpPr/>
      </dsp:nvSpPr>
      <dsp:spPr>
        <a:xfrm>
          <a:off x="5957125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rgbClr val="00B050">
            <a:alpha val="90000"/>
          </a:srgbClr>
        </a:solidFill>
        <a:ln w="25400" cap="flat" cmpd="sng" algn="ctr">
          <a:solidFill>
            <a:schemeClr val="bg1">
              <a:lumMod val="95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092028" y="706487"/>
        <a:ext cx="329765" cy="451177"/>
      </dsp:txXfrm>
    </dsp:sp>
    <dsp:sp modelId="{F18D7322-0593-4FDA-89FC-1ADED3DE1A14}">
      <dsp:nvSpPr>
        <dsp:cNvPr id="0" name=""/>
        <dsp:cNvSpPr/>
      </dsp:nvSpPr>
      <dsp:spPr>
        <a:xfrm>
          <a:off x="6506249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rgbClr val="00B050">
            <a:alpha val="90000"/>
          </a:srgbClr>
        </a:solidFill>
        <a:ln w="25400" cap="flat" cmpd="sng" algn="ctr">
          <a:solidFill>
            <a:schemeClr val="bg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641152" y="1796616"/>
        <a:ext cx="329765" cy="451177"/>
      </dsp:txXfrm>
    </dsp:sp>
    <dsp:sp modelId="{0A6B1D52-E4F2-467C-AACC-356A292B0BDA}">
      <dsp:nvSpPr>
        <dsp:cNvPr id="0" name=""/>
        <dsp:cNvSpPr/>
      </dsp:nvSpPr>
      <dsp:spPr>
        <a:xfrm>
          <a:off x="7047176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rgbClr val="00B050">
            <a:alpha val="90000"/>
          </a:srgbClr>
        </a:solidFill>
        <a:ln w="25400" cap="flat" cmpd="sng" algn="ctr">
          <a:solidFill>
            <a:schemeClr val="bg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182079" y="2886746"/>
        <a:ext cx="329765" cy="4511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901" y="5485710"/>
            <a:ext cx="5295110" cy="1159200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sz="3600" dirty="0">
                <a:solidFill>
                  <a:srgbClr val="FFFFFF"/>
                </a:solidFill>
              </a:rPr>
              <a:t>Mechanics of Apollo Level-Funded Captive Program</a:t>
            </a:r>
            <a:br>
              <a:rPr lang="en-US" sz="3600" dirty="0">
                <a:solidFill>
                  <a:srgbClr val="FFFFFF"/>
                </a:solidFill>
              </a:rPr>
            </a:br>
            <a:endParaRPr lang="en-US" sz="3500" dirty="0">
              <a:solidFill>
                <a:srgbClr val="FFFFFF"/>
              </a:solidFill>
            </a:endParaRPr>
          </a:p>
        </p:txBody>
      </p:sp>
      <p:pic>
        <p:nvPicPr>
          <p:cNvPr id="5" name="Picture 4" descr="A blue text on a white background&#10;&#10;AI-generated content may be incorrect.">
            <a:extLst>
              <a:ext uri="{FF2B5EF4-FFF2-40B4-BE49-F238E27FC236}">
                <a16:creationId xmlns:a16="http://schemas.microsoft.com/office/drawing/2014/main" id="{728680EE-DFA6-F9C4-4E55-50442C032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1" y="1322942"/>
            <a:ext cx="8495662" cy="26548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Benefits of a Group Medical Captive</a:t>
            </a:r>
          </a:p>
        </p:txBody>
      </p:sp>
      <p:graphicFrame>
        <p:nvGraphicFramePr>
          <p:cNvPr id="84" name="Content Placeholder 2">
            <a:extLst>
              <a:ext uri="{FF2B5EF4-FFF2-40B4-BE49-F238E27FC236}">
                <a16:creationId xmlns:a16="http://schemas.microsoft.com/office/drawing/2014/main" id="{DD2F6834-1F4A-211C-66AA-19E9D94EC6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77368" y="649480"/>
          <a:ext cx="3646835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How a Level-Funded Health Plan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  <a:defRPr sz="1400"/>
            </a:pPr>
            <a:r>
              <a:rPr lang="en-US" sz="1600" dirty="0"/>
              <a:t>Employers pay </a:t>
            </a:r>
            <a:r>
              <a:rPr lang="en-US" sz="1600" b="1" dirty="0"/>
              <a:t>ONE fixed</a:t>
            </a:r>
            <a:r>
              <a:rPr lang="en-US" sz="1600" dirty="0"/>
              <a:t> monthly amount covering three components: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600" dirty="0"/>
              <a:t>	   - Claims Fund: Pays for employee medical claims up to a set threshold </a:t>
            </a:r>
            <a:r>
              <a:rPr lang="en-US" sz="1600" i="1" dirty="0"/>
              <a:t>(called 		the specific deductible and aggregate maximum liability) 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600" dirty="0"/>
              <a:t>	   - Stop-Loss Insurance: Protects the employer from high-cost claims and total 		liability on the group 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600" dirty="0"/>
              <a:t>	  - Administrative Fees: Covers plan administration costs 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endParaRPr lang="en-US" sz="1600" dirty="0"/>
          </a:p>
          <a:p>
            <a:pPr>
              <a:lnSpc>
                <a:spcPct val="90000"/>
              </a:lnSpc>
              <a:defRPr sz="1400"/>
            </a:pPr>
            <a:r>
              <a:rPr lang="en-US" sz="1600" dirty="0"/>
              <a:t>If claims are lower than expected, the employer may receive a refund of unused claims fund dollars.</a:t>
            </a:r>
          </a:p>
          <a:p>
            <a:pPr>
              <a:lnSpc>
                <a:spcPct val="90000"/>
              </a:lnSpc>
              <a:defRPr sz="1400"/>
            </a:pPr>
            <a:r>
              <a:rPr lang="en-US" sz="1600" dirty="0"/>
              <a:t>If claims exceed the set threshold, stop-loss insurance kicks in.</a:t>
            </a:r>
          </a:p>
          <a:p>
            <a:pPr>
              <a:lnSpc>
                <a:spcPct val="90000"/>
              </a:lnSpc>
              <a:defRPr sz="1400"/>
            </a:pPr>
            <a:r>
              <a:rPr lang="en-US" sz="1600" dirty="0"/>
              <a:t>Provides predictable monthly costs with the potential for savings compared to fully insured plans.</a:t>
            </a:r>
          </a:p>
          <a:p>
            <a:pPr>
              <a:lnSpc>
                <a:spcPct val="90000"/>
              </a:lnSpc>
              <a:defRPr sz="1400"/>
            </a:pPr>
            <a:r>
              <a:rPr lang="en-US" sz="1600" dirty="0"/>
              <a:t>Offers access to claims data and greater transparency for informed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3" name="Rectangle 212">
            <a:extLst>
              <a:ext uri="{FF2B5EF4-FFF2-40B4-BE49-F238E27FC236}">
                <a16:creationId xmlns:a16="http://schemas.microsoft.com/office/drawing/2014/main" id="{435ADAF7-9BEB-4FA3-AE9F-4CF47620E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735" y="431212"/>
            <a:ext cx="2565229" cy="1906317"/>
          </a:xfrm>
        </p:spPr>
        <p:txBody>
          <a:bodyPr>
            <a:normAutofit/>
          </a:bodyPr>
          <a:lstStyle/>
          <a:p>
            <a:r>
              <a:rPr lang="en-US" sz="2400" dirty="0"/>
              <a:t>Distribution of Monthly Premium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7BB0BA7-0383-4937-8874-B01AAA08E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3232716" cy="408925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Piggy Bank">
            <a:extLst>
              <a:ext uri="{FF2B5EF4-FFF2-40B4-BE49-F238E27FC236}">
                <a16:creationId xmlns:a16="http://schemas.microsoft.com/office/drawing/2014/main" id="{D5B56B04-12E5-9F4B-0132-73FDE5EDFF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4452" y="3461465"/>
            <a:ext cx="2703812" cy="270381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0132" y="678955"/>
            <a:ext cx="4189836" cy="540974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600" b="1" dirty="0"/>
              <a:t>Claims Fund – Typically 60–70% of monthly employer payment 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600" i="1" dirty="0"/>
              <a:t>- Used to pay medical claims below the stop-loss deductible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600" i="1" dirty="0"/>
              <a:t>- Any surplus at year-end may be refunded to the employer</a:t>
            </a:r>
          </a:p>
          <a:p>
            <a:pPr>
              <a:lnSpc>
                <a:spcPct val="90000"/>
              </a:lnSpc>
              <a:defRPr sz="1400"/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600" b="1" dirty="0"/>
              <a:t>Stop-Loss Premium – Typically 20–25% of the monthly payment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600" dirty="0"/>
              <a:t>- </a:t>
            </a:r>
            <a:r>
              <a:rPr lang="en-US" sz="1600" i="1" dirty="0"/>
              <a:t>Provides financial protection for high-cost or aggregate claims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600" i="1" dirty="0"/>
              <a:t>- May be partially ceded to a captive for risk-sharing and profitability</a:t>
            </a:r>
          </a:p>
          <a:p>
            <a:pPr>
              <a:lnSpc>
                <a:spcPct val="90000"/>
              </a:lnSpc>
              <a:defRPr sz="1400"/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600" b="1" dirty="0"/>
              <a:t>Administrative Fees – Typically 5–15% of the monthly payment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600" dirty="0"/>
              <a:t>   - </a:t>
            </a:r>
            <a:r>
              <a:rPr lang="en-US" sz="1600" i="1" dirty="0"/>
              <a:t>Covers TPA, PBM, network access, technology, compliance, and reporting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600" i="1" dirty="0"/>
              <a:t>   - Generally transparent and fixed in level-funded plans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89945" y="3404996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82880"/>
            <a:ext cx="9144000" cy="523220"/>
          </a:xfrm>
          <a:prstGeom prst="rect">
            <a:avLst/>
          </a:prstGeom>
          <a:solidFill>
            <a:srgbClr val="003366"/>
          </a:solidFill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dirty="0">
                <a:solidFill>
                  <a:srgbClr val="FFFFFF"/>
                </a:solidFill>
              </a:rPr>
              <a:t>Visual Workflow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097280"/>
            <a:ext cx="2743200" cy="731520"/>
          </a:xfrm>
          <a:prstGeom prst="roundRect">
            <a:avLst/>
          </a:prstGeom>
          <a:solidFill>
            <a:srgbClr val="E8F0FE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000000"/>
                </a:solidFill>
              </a:rPr>
              <a:t>Employer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2286000"/>
            <a:ext cx="2743200" cy="731520"/>
          </a:xfrm>
          <a:prstGeom prst="roundRect">
            <a:avLst/>
          </a:prstGeom>
          <a:solidFill>
            <a:srgbClr val="E8F0FE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000000"/>
                </a:solidFill>
              </a:rPr>
              <a:t>TPA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474720"/>
            <a:ext cx="2743200" cy="731520"/>
          </a:xfrm>
          <a:prstGeom prst="roundRect">
            <a:avLst/>
          </a:prstGeom>
          <a:solidFill>
            <a:srgbClr val="E8F0FE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000000"/>
                </a:solidFill>
              </a:rPr>
              <a:t>Stop-Loss Carrier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663440"/>
            <a:ext cx="2743200" cy="731520"/>
          </a:xfrm>
          <a:prstGeom prst="roundRect">
            <a:avLst/>
          </a:prstGeom>
          <a:solidFill>
            <a:srgbClr val="E8F0FE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000000"/>
                </a:solidFill>
              </a:rPr>
              <a:t>Captive Insurer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4663440"/>
            <a:ext cx="2743200" cy="731520"/>
          </a:xfrm>
          <a:prstGeom prst="roundRect">
            <a:avLst/>
          </a:prstGeom>
          <a:solidFill>
            <a:srgbClr val="E8F0FE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sz="2000" b="1" dirty="0">
                <a:solidFill>
                  <a:srgbClr val="000000"/>
                </a:solidFill>
              </a:rPr>
              <a:t>Collateral</a:t>
            </a:r>
            <a:endParaRPr lang="en-US" sz="2000" b="1" dirty="0">
              <a:solidFill>
                <a:srgbClr val="000000"/>
              </a:solidFill>
            </a:endParaRPr>
          </a:p>
          <a:p>
            <a:pPr algn="ctr"/>
            <a:r>
              <a:rPr lang="en-US" sz="2000" b="1" dirty="0">
                <a:solidFill>
                  <a:srgbClr val="000000"/>
                </a:solidFill>
              </a:rPr>
              <a:t>(posted by zenith) </a:t>
            </a:r>
            <a:endParaRPr sz="2000" b="1" dirty="0">
              <a:solidFill>
                <a:srgbClr val="00000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00400" y="5852160"/>
            <a:ext cx="2743200" cy="731520"/>
          </a:xfrm>
          <a:prstGeom prst="roundRect">
            <a:avLst/>
          </a:prstGeom>
          <a:solidFill>
            <a:srgbClr val="E8F0FE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000000"/>
                </a:solidFill>
              </a:rPr>
              <a:t>Claims</a:t>
            </a:r>
            <a:r>
              <a:rPr sz="1200" b="1" dirty="0">
                <a:solidFill>
                  <a:srgbClr val="000000"/>
                </a:solidFill>
              </a:rPr>
              <a:t> </a:t>
            </a:r>
            <a:r>
              <a:rPr sz="2000" b="1" dirty="0">
                <a:solidFill>
                  <a:srgbClr val="000000"/>
                </a:solidFill>
              </a:rPr>
              <a:t>Reimbursement</a:t>
            </a:r>
            <a:r>
              <a:rPr sz="1200" b="1" dirty="0">
                <a:solidFill>
                  <a:srgbClr val="000000"/>
                </a:solidFill>
              </a:rPr>
              <a:t> </a:t>
            </a:r>
            <a:r>
              <a:rPr sz="2000" b="1" dirty="0">
                <a:solidFill>
                  <a:srgbClr val="000000"/>
                </a:solidFill>
              </a:rPr>
              <a:t>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0175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206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394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846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Employer Group Pays Premium</a:t>
            </a:r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3F6848FA-6BC0-A096-01E6-D171409831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693237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TPA Remits Premium</a:t>
            </a:r>
          </a:p>
        </p:txBody>
      </p:sp>
      <p:sp>
        <p:nvSpPr>
          <p:cNvPr id="37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pPr>
              <a:defRPr sz="1400"/>
            </a:pPr>
            <a:r>
              <a:rPr lang="en-US" sz="1700"/>
              <a:t>The Third-Party Administrator (TPA) receives the employer’s payment and remits the full stop-loss premium to the issuing or fronting carrier. The TPA does not underwrite or retain any stop-loss risk. </a:t>
            </a:r>
          </a:p>
          <a:p>
            <a:pPr>
              <a:defRPr sz="1400"/>
            </a:pPr>
            <a:r>
              <a:rPr lang="en-US" sz="1700"/>
              <a:t>The TPA ONLY keeps their admin fee and creates a separate account for the claims bucket to pay for claims as they come in.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Stop-Loss Carrier Allocates Premium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pPr>
              <a:defRPr sz="1400"/>
            </a:pPr>
            <a:r>
              <a:rPr lang="en-US" sz="1700" dirty="0"/>
              <a:t>The stop-loss carrier retains fronting and administrative fees (commonly 10–25%), possibly includes broker commissions, and cedes the remaining premium to the captive through a reinsurance agreement.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0" y="1131511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0936"/>
            <a:ext cx="3742438" cy="5478640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</a:rPr>
              <a:t>Captive Receives Net Premium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40997" y="1207140"/>
            <a:ext cx="5678424" cy="425613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ontent Placeholder 2"/>
          <p:cNvSpPr>
            <a:spLocks noGrp="1"/>
          </p:cNvSpPr>
          <p:nvPr>
            <p:ph idx="1"/>
          </p:nvPr>
        </p:nvSpPr>
        <p:spPr>
          <a:xfrm>
            <a:off x="4531459" y="630936"/>
            <a:ext cx="3736705" cy="5478672"/>
          </a:xfrm>
          <a:noFill/>
        </p:spPr>
        <p:txBody>
          <a:bodyPr anchor="ctr">
            <a:normAutofit/>
          </a:bodyPr>
          <a:lstStyle/>
          <a:p>
            <a:pPr>
              <a:defRPr sz="1400"/>
            </a:pPr>
            <a:r>
              <a:rPr lang="en-US" sz="1600" dirty="0">
                <a:solidFill>
                  <a:schemeClr val="bg1"/>
                </a:solidFill>
              </a:rPr>
              <a:t>The captive insurer assumes a portion of the stop-loss risk, typically the specific and/or aggregate layer, and collects underwriting profit. It also can earn investment income on unused reserves.</a:t>
            </a:r>
          </a:p>
          <a:p>
            <a:pPr>
              <a:defRPr sz="1400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defRPr sz="1400"/>
            </a:pPr>
            <a:r>
              <a:rPr lang="en-US" sz="1600" dirty="0">
                <a:solidFill>
                  <a:schemeClr val="bg1"/>
                </a:solidFill>
              </a:rPr>
              <a:t>The captive does have operating expenses that are typically in the 10-15% range. These include audit, legal, banking, licensing, compliance, and management. </a:t>
            </a:r>
          </a:p>
          <a:p>
            <a:pPr>
              <a:defRPr sz="1400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defRPr sz="1400"/>
            </a:pPr>
            <a:r>
              <a:rPr lang="en-US" sz="1600" dirty="0">
                <a:solidFill>
                  <a:schemeClr val="bg1"/>
                </a:solidFill>
              </a:rPr>
              <a:t>The captive also will purchase reinsurance above their risk layer for larger catastrophic risk.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Captive Posts Collateral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pPr>
              <a:defRPr sz="1400"/>
            </a:pPr>
            <a:r>
              <a:rPr lang="en-US" sz="1700" dirty="0"/>
              <a:t>To secure its obligation to the stop-loss carrier, the captive posts collateral. Collateral levels are determined by actuarial projections and contract terms.</a:t>
            </a:r>
          </a:p>
          <a:p>
            <a:pPr>
              <a:defRPr sz="1400"/>
            </a:pPr>
            <a:r>
              <a:rPr lang="en-US" sz="1700" dirty="0"/>
              <a:t>Zenith is posting this collateral requirement on behalf of the employer groups.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Claims Reimbursement Process</a:t>
            </a:r>
          </a:p>
        </p:txBody>
      </p:sp>
      <p:graphicFrame>
        <p:nvGraphicFramePr>
          <p:cNvPr id="52" name="Content Placeholder 2">
            <a:extLst>
              <a:ext uri="{FF2B5EF4-FFF2-40B4-BE49-F238E27FC236}">
                <a16:creationId xmlns:a16="http://schemas.microsoft.com/office/drawing/2014/main" id="{2C22E357-2FA4-582D-DAD5-DCE4F6B624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153951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Sample Claim Payment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300" dirty="0"/>
          </a:p>
          <a:p>
            <a:pPr marL="0" indent="0" algn="ctr">
              <a:lnSpc>
                <a:spcPct val="90000"/>
              </a:lnSpc>
              <a:buNone/>
              <a:defRPr sz="1400"/>
            </a:pPr>
            <a:r>
              <a:rPr lang="en-US" sz="2800" dirty="0"/>
              <a:t>Total Claim: $400,000</a:t>
            </a:r>
          </a:p>
          <a:p>
            <a:pPr>
              <a:lnSpc>
                <a:spcPct val="90000"/>
              </a:lnSpc>
              <a:defRPr sz="1400"/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600" dirty="0"/>
              <a:t>Employer Responsibility: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300" dirty="0"/>
              <a:t>   - </a:t>
            </a:r>
            <a:r>
              <a:rPr lang="en-US" sz="1400" dirty="0"/>
              <a:t>Employer has a $25,000 specific deductible.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400" dirty="0"/>
              <a:t>   - Pays the first $25,000 of the claim.</a:t>
            </a:r>
          </a:p>
          <a:p>
            <a:pPr>
              <a:lnSpc>
                <a:spcPct val="90000"/>
              </a:lnSpc>
              <a:defRPr sz="1400"/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600" dirty="0"/>
              <a:t>Captive Responsibility: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300" dirty="0"/>
              <a:t>   - </a:t>
            </a:r>
            <a:r>
              <a:rPr lang="en-US" sz="1400" dirty="0"/>
              <a:t>Captive reinsurer assumes the next $200,000 of the claim.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400" dirty="0"/>
              <a:t>   - Pays from its ceded stop-loss premium reserves.</a:t>
            </a:r>
          </a:p>
          <a:p>
            <a:pPr>
              <a:lnSpc>
                <a:spcPct val="90000"/>
              </a:lnSpc>
              <a:defRPr sz="1400"/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600" dirty="0"/>
              <a:t>Stop-Loss Carrier Responsibility: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300" dirty="0"/>
              <a:t>  </a:t>
            </a:r>
            <a:r>
              <a:rPr lang="en-US" sz="1400" dirty="0"/>
              <a:t>- Fronting carrier covers the remaining $175,000.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400" dirty="0"/>
              <a:t>   - Carrier may seek reimbursement from the captive for the ceded layer.</a:t>
            </a:r>
          </a:p>
          <a:p>
            <a:pPr>
              <a:lnSpc>
                <a:spcPct val="90000"/>
              </a:lnSpc>
              <a:defRPr sz="1400"/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000" i="1" dirty="0"/>
              <a:t>Reimbursement Flow: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000" i="1" dirty="0"/>
              <a:t> - TPA submits claim to stop-loss carrier.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000" i="1" dirty="0"/>
              <a:t> - Carrier reimburses TPA or employer for amounts above deductible.</a:t>
            </a:r>
          </a:p>
          <a:p>
            <a:pPr marL="0" indent="0">
              <a:lnSpc>
                <a:spcPct val="90000"/>
              </a:lnSpc>
              <a:buNone/>
              <a:defRPr sz="1400"/>
            </a:pPr>
            <a:r>
              <a:rPr lang="en-US" sz="1000" i="1" dirty="0"/>
              <a:t> - Captive reimburses carrier for its assumed portion of the risk.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Distribution of Surplus After Plan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6400"/>
            <a:ext cx="4916510" cy="6008714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 sz="1400"/>
            </a:pPr>
            <a:r>
              <a:rPr lang="en-US" sz="2400" b="1" dirty="0"/>
              <a:t>Claims Fund Surplus Distribution</a:t>
            </a:r>
          </a:p>
          <a:p>
            <a:pPr marL="0" indent="0">
              <a:buNone/>
              <a:defRPr sz="1400"/>
            </a:pPr>
            <a:r>
              <a:rPr lang="en-US" sz="1600" dirty="0"/>
              <a:t>  - </a:t>
            </a:r>
            <a:r>
              <a:rPr lang="en-US" sz="1800" dirty="0"/>
              <a:t>100% of Unused dollars in the employer's claims fund are returned at the end of the contract year.</a:t>
            </a:r>
          </a:p>
          <a:p>
            <a:pPr marL="0" indent="0">
              <a:buNone/>
              <a:defRPr sz="1400"/>
            </a:pPr>
            <a:r>
              <a:rPr lang="en-US" sz="1800" dirty="0"/>
              <a:t>   - Subject to terms such as run-out period, and reconciliation timing. </a:t>
            </a:r>
            <a:r>
              <a:rPr lang="en-US" sz="1800" i="1" dirty="0"/>
              <a:t>(12/15 or 12/18 + 3 months)</a:t>
            </a:r>
          </a:p>
          <a:p>
            <a:pPr marL="0" indent="0">
              <a:buNone/>
              <a:defRPr sz="1400"/>
            </a:pPr>
            <a:r>
              <a:rPr lang="en-US" sz="1800" dirty="0"/>
              <a:t>  - Enhances employer value, encourages better health plan engagement and outcomes.</a:t>
            </a:r>
          </a:p>
          <a:p>
            <a:endParaRPr lang="en-US" sz="1700" dirty="0"/>
          </a:p>
          <a:p>
            <a:pPr marL="0" indent="0" algn="ctr">
              <a:buNone/>
              <a:defRPr sz="1400"/>
            </a:pPr>
            <a:r>
              <a:rPr lang="en-US" sz="2400" b="1" dirty="0"/>
              <a:t>Captive Surplus Distribution</a:t>
            </a:r>
          </a:p>
          <a:p>
            <a:pPr marL="0" indent="0">
              <a:buNone/>
              <a:defRPr sz="1400"/>
            </a:pPr>
            <a:r>
              <a:rPr lang="en-US" sz="1800" dirty="0"/>
              <a:t>   - At the end of the contract term, underwriting profits retained by the captive WILL be distributed to participating groups. </a:t>
            </a:r>
          </a:p>
          <a:p>
            <a:pPr marL="0" indent="0">
              <a:buNone/>
              <a:defRPr sz="1400"/>
            </a:pPr>
            <a:r>
              <a:rPr lang="en-US" sz="1800" dirty="0"/>
              <a:t>   - Distribution is based on contribution to premium, claims performance, and participation terms outlined in the captive participation agreement. </a:t>
            </a:r>
            <a:r>
              <a:rPr lang="en-US" sz="1800" i="1" dirty="0"/>
              <a:t>(SAPA) </a:t>
            </a:r>
          </a:p>
          <a:p>
            <a:pPr marL="0" indent="0">
              <a:buNone/>
              <a:defRPr sz="1400"/>
            </a:pPr>
            <a:r>
              <a:rPr lang="en-US" sz="1800" dirty="0"/>
              <a:t>   - Surplus will be split as 25% employer groups, 25% retain for future risk mitigation, 50% Zenith </a:t>
            </a:r>
          </a:p>
          <a:p>
            <a:pPr>
              <a:defRPr sz="1400"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9bdae50-91be-4c00-bad8-313464f4e2db">
      <Terms xmlns="http://schemas.microsoft.com/office/infopath/2007/PartnerControls"/>
    </lcf76f155ced4ddcb4097134ff3c332f>
    <TaxCatchAll xmlns="f26677ca-ae69-4d49-a744-bf4da4da1327" xsi:nil="true"/>
    <_ApprovalAssignedTo xmlns="59bdae50-91be-4c00-bad8-313464f4e2db">
      <UserInfo>
        <DisplayName/>
        <AccountId xsi:nil="true"/>
        <AccountType/>
      </UserInfo>
    </_ApprovalAssignedTo>
    <_ApprovalStatus xmlns="59bdae50-91be-4c00-bad8-313464f4e2db">0</_ApprovalStatus>
    <_ApprovalRespondedBy xmlns="59bdae50-91be-4c00-bad8-313464f4e2db">
      <UserInfo>
        <DisplayName/>
        <AccountId xsi:nil="true"/>
        <AccountType/>
      </UserInfo>
    </_ApprovalRespondedBy>
    <_ApprovalSentBy xmlns="59bdae50-91be-4c00-bad8-313464f4e2db">
      <UserInfo>
        <DisplayName/>
        <AccountId xsi:nil="true"/>
        <AccountType/>
      </UserInfo>
    </_ApprovalSentBy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D53B4BF2D6FF4594855E735088D073" ma:contentTypeVersion="16" ma:contentTypeDescription="Create a new document." ma:contentTypeScope="" ma:versionID="504a539b6d37429ec7dfb963336ff3d5">
  <xsd:schema xmlns:xsd="http://www.w3.org/2001/XMLSchema" xmlns:xs="http://www.w3.org/2001/XMLSchema" xmlns:p="http://schemas.microsoft.com/office/2006/metadata/properties" xmlns:ns2="59bdae50-91be-4c00-bad8-313464f4e2db" xmlns:ns3="f26677ca-ae69-4d49-a744-bf4da4da1327" targetNamespace="http://schemas.microsoft.com/office/2006/metadata/properties" ma:root="true" ma:fieldsID="beabbf48ebe5c94cd05d7b8d2814dd77" ns2:_="" ns3:_="">
    <xsd:import namespace="59bdae50-91be-4c00-bad8-313464f4e2db"/>
    <xsd:import namespace="f26677ca-ae69-4d49-a744-bf4da4da13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bdae50-91be-4c00-bad8-313464f4e2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345571a-e924-403f-8b12-6486bc9a8c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_ApprovalAssignedTo" ma:index="18" nillable="true" ma:displayName="Approver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19" nillable="true" ma:displayName="Response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0" nillable="true" ma:displayName="Approval Creator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21" nillable="true" ma:displayName="Approval status" ma:internalName="_ApprovalStatus" ma:readOnly="true">
      <xsd:simpleType>
        <xsd:restriction base="dms:Unknown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6677ca-ae69-4d49-a744-bf4da4da132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a06dcfb-081d-4d5e-921c-d8fd946f1f34}" ma:internalName="TaxCatchAll" ma:showField="CatchAllData" ma:web="f26677ca-ae69-4d49-a744-bf4da4da13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C50D30-B9CD-4E50-8382-2F019D822F87}">
  <ds:schemaRefs>
    <ds:schemaRef ds:uri="http://schemas.microsoft.com/office/2006/metadata/properties"/>
    <ds:schemaRef ds:uri="http://schemas.microsoft.com/office/infopath/2007/PartnerControls"/>
    <ds:schemaRef ds:uri="59bdae50-91be-4c00-bad8-313464f4e2db"/>
    <ds:schemaRef ds:uri="f26677ca-ae69-4d49-a744-bf4da4da1327"/>
  </ds:schemaRefs>
</ds:datastoreItem>
</file>

<file path=customXml/itemProps2.xml><?xml version="1.0" encoding="utf-8"?>
<ds:datastoreItem xmlns:ds="http://schemas.openxmlformats.org/officeDocument/2006/customXml" ds:itemID="{A20E2244-7467-4163-9C41-103C4587F570}"/>
</file>

<file path=customXml/itemProps3.xml><?xml version="1.0" encoding="utf-8"?>
<ds:datastoreItem xmlns:ds="http://schemas.openxmlformats.org/officeDocument/2006/customXml" ds:itemID="{FB96C294-E3E6-4C73-BB6A-4266AEF1E9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938</Words>
  <Application>Microsoft Office PowerPoint</Application>
  <PresentationFormat>On-screen Show (4:3)</PresentationFormat>
  <Paragraphs>99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Mechanics of Apollo Level-Funded Captive Program </vt:lpstr>
      <vt:lpstr>Benefits of a Group Medical Captive</vt:lpstr>
      <vt:lpstr>How a Level-Funded Health Plan Works</vt:lpstr>
      <vt:lpstr>Distribution of Monthly Premium</vt:lpstr>
      <vt:lpstr>PowerPoint Presentation</vt:lpstr>
      <vt:lpstr>Employer Group Pays Premium</vt:lpstr>
      <vt:lpstr>TPA Remits Premium</vt:lpstr>
      <vt:lpstr>Stop-Loss Carrier Allocates Premium</vt:lpstr>
      <vt:lpstr>Captive Receives Net Premium</vt:lpstr>
      <vt:lpstr>Captive Posts Collateral</vt:lpstr>
      <vt:lpstr>Claims Reimbursement Process</vt:lpstr>
      <vt:lpstr>Sample Claim Payment Flow</vt:lpstr>
      <vt:lpstr>Distribution of Surplus After Plan Year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thomas wagner</dc:creator>
  <cp:keywords/>
  <dc:description>generated using python-pptx</dc:description>
  <cp:lastModifiedBy>Thomas Wagner</cp:lastModifiedBy>
  <cp:revision>1</cp:revision>
  <dcterms:created xsi:type="dcterms:W3CDTF">2013-01-27T09:14:16Z</dcterms:created>
  <dcterms:modified xsi:type="dcterms:W3CDTF">2026-04-03T17:41:39Z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0x01010093D53B4BF2D6FF4594855E735088D073</vt:lpwstr>
  </property>
  <property fmtid="{D5CDD505-2E9C-101B-9397-08002B2CF9AE}" pid="3" name="MediaServiceImageTags">
    <vt:lpwstr/>
  </property>
</Properties>
</file>